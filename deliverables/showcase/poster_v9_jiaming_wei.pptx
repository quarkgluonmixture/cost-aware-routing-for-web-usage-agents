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360000"/>
            <a:ext cx="15526985" cy="1440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400" b="0" i="0">
                <a:solidFill>
                  <a:srgbClr val="FFFFFF"/>
                </a:solidFill>
                <a:latin typeface="Georgia"/>
              </a:rPr>
              <a:t>When Is Expensive Perception Worth Paying For?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FFFFFF"/>
                </a:solidFill>
                <a:latin typeface="Georgia"/>
              </a:rPr>
              <a:t>Testing when richer web-agent representations help — and whether their value can be predicted cheaply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jiaming.wei.25@ucl.ac.uk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4788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744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WHAT AN AGENT SEES, AND WHO CHOOSES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105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116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7" name="Picture 76" descr="syste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9398" y="5328000"/>
            <a:ext cx="18658404" cy="693803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27200" y="12554038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2510838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THE SAME TASK, SEEN TWO WAYS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2871874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2882045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27200" y="13094038"/>
            <a:ext cx="20062800" cy="2962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2162E"/>
                </a:solidFill>
                <a:latin typeface="Arial"/>
              </a:rPr>
              <a:t>“Go to my listing of the blue bike and change the price to $85.50 — and say so in the description.”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7200" y="13498303"/>
            <a:ext cx="86400" cy="2503275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7200" y="13534303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7200" y="13930303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page text only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200" y="14506303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12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8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$0.09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7200" y="15190303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14855F"/>
                </a:solidFill>
                <a:latin typeface="Arial"/>
              </a:rPr>
              <a:t>solved</a:t>
            </a:r>
          </a:p>
        </p:txBody>
      </p:sp>
      <p:pic>
        <p:nvPicPr>
          <p:cNvPr id="84" name="Picture 83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3200" y="13498303"/>
            <a:ext cx="6027600" cy="1963275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2383200" y="13498303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383200" y="15515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4 · type 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83200" y="15749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$0.020 spent</a:t>
            </a:r>
          </a:p>
        </p:txBody>
      </p:sp>
      <p:pic>
        <p:nvPicPr>
          <p:cNvPr id="88" name="Picture 87" descr="lane_read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4800" y="13498303"/>
            <a:ext cx="6027600" cy="1963275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8554800" y="13498303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554800" y="15515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8 · type 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4800" y="15749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$0.050 spent</a:t>
            </a:r>
          </a:p>
        </p:txBody>
      </p:sp>
      <p:pic>
        <p:nvPicPr>
          <p:cNvPr id="92" name="Picture 91" descr="lane_read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26400" y="13498303"/>
            <a:ext cx="6027600" cy="1963275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14726400" y="13498303"/>
            <a:ext cx="6027600" cy="1963275"/>
          </a:xfrm>
          <a:prstGeom prst="rect">
            <a:avLst/>
          </a:prstGeom>
          <a:noFill/>
          <a:ln w="27940">
            <a:solidFill>
              <a:srgbClr val="148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726400" y="15515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10 · click →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726400" y="15749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$0.086 spent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7200" y="16037578"/>
            <a:ext cx="86400" cy="2503275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07200" y="16073578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7200" y="16469578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screenshot 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7200" y="17045578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26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9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$0.10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7200" y="17729578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C2352B"/>
                </a:solidFill>
                <a:latin typeface="Arial"/>
              </a:rPr>
              <a:t>gave up</a:t>
            </a:r>
          </a:p>
        </p:txBody>
      </p:sp>
      <p:pic>
        <p:nvPicPr>
          <p:cNvPr id="101" name="Picture 100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83200" y="16037578"/>
            <a:ext cx="6027600" cy="1963275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2383200" y="16037578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383200" y="18054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 · click 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83200" y="18288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$0.011 spent</a:t>
            </a:r>
          </a:p>
        </p:txBody>
      </p:sp>
      <p:pic>
        <p:nvPicPr>
          <p:cNvPr id="105" name="Picture 104" descr="lane_look_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54800" y="16037578"/>
            <a:ext cx="6027600" cy="1963275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8554800" y="16037578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54800" y="18054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17 · click →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54800" y="18288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$0.071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left the form</a:t>
            </a:r>
          </a:p>
        </p:txBody>
      </p:sp>
      <p:pic>
        <p:nvPicPr>
          <p:cNvPr id="109" name="Picture 108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26400" y="16037578"/>
            <a:ext cx="6027600" cy="1963275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14726400" y="16037578"/>
            <a:ext cx="6027600" cy="1963275"/>
          </a:xfrm>
          <a:prstGeom prst="rect">
            <a:avLst/>
          </a:prstGeom>
          <a:noFill/>
          <a:ln w="27940">
            <a:solidFill>
              <a:srgbClr val="C23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4726400" y="18054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19 · click →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726400" y="18288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$0.079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back on frame 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7200" y="18504853"/>
            <a:ext cx="20062800" cy="2551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1" i="0">
                <a:solidFill>
                  <a:srgbClr val="12162E"/>
                </a:solidFill>
                <a:latin typeface="Arial"/>
              </a:rPr>
              <a:t>Both start on the same form.</a:t>
            </a:r>
            <a:r>
              <a:rPr sz="1550" b="0" i="0">
                <a:solidFill>
                  <a:srgbClr val="12162E"/>
                </a:solidFill>
                <a:latin typeface="Arial"/>
              </a:rPr>
              <a:t> Then READ finishes it, while </a:t>
            </a:r>
            <a:r>
              <a:rPr sz="1550" b="1" i="0">
                <a:solidFill>
                  <a:srgbClr val="12162E"/>
                </a:solidFill>
                <a:latin typeface="Arial"/>
              </a:rPr>
              <a:t>LOOK ends up back on the page it started from</a:t>
            </a:r>
            <a:r>
              <a:rPr sz="1550" b="0" i="0">
                <a:solidFill>
                  <a:srgbClr val="12162E"/>
                </a:solidFill>
                <a:latin typeface="Arial"/>
              </a:rPr>
              <a:t>. One recorded run per view; both outcomes repeat on an independent rerun.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897597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893277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1 · SIX VIEWS, EIGHT SETTINGS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929380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930397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1962605" y="19515970"/>
            <a:ext cx="3980390" cy="3242239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962605" y="19515970"/>
            <a:ext cx="398039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6" name="Picture 115" descr="fig_f5_design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34605" y="19638370"/>
            <a:ext cx="3836390" cy="30478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34800" y="1897597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893277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2 · THEY SOLVE DIFFERENT TASKS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929380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930397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8050896" y="19515970"/>
            <a:ext cx="5419008" cy="3277303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050896" y="19515970"/>
            <a:ext cx="5419008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9" name="Picture 118" descr="venn_b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2896" y="19638370"/>
            <a:ext cx="5275008" cy="3082904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534800" y="22865273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The sets overlap — but do not coincide.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1897597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1893277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3 · THEY BEHAVE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1929380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1930397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14338800" y="19515970"/>
            <a:ext cx="6451200" cy="3307638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338800" y="19515970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3" name="Picture 122" descr="behaviou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410800" y="19638370"/>
            <a:ext cx="6307200" cy="3113238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4338800" y="22895608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Vision scrolls ~4×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357141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352821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4 · AND THEY FAIL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388925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3899421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27200" y="24111414"/>
            <a:ext cx="6451200" cy="2979118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7200" y="24111414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7" name="Picture 126" descr="failu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9200" y="24233814"/>
            <a:ext cx="6307200" cy="278471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7200" y="27162532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Text-only skews toward early give-up; image-only toward stalled progress.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357141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352821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5 · SO CHOOSE PER TASK? NOT SO FAST.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388925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3899421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7618666" y="24111414"/>
            <a:ext cx="6283468" cy="3003545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618666" y="24111414"/>
            <a:ext cx="6283468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1" name="Picture 130" descr="routing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90666" y="24233814"/>
            <a:ext cx="6139468" cy="2809145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7534800" y="27186959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No learned policy enters the win region; the lone square is hindsight.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2357141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2352821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6 · AND THIS IS WHY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2388925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23899421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14338800" y="24111414"/>
            <a:ext cx="6451200" cy="3006817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338800" y="24111414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5" name="Picture 134" descr="label_suppl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410800" y="24233814"/>
            <a:ext cx="6307200" cy="2812417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4338800" y="27190231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More routing upside, less usable training signal.</a:t>
            </a:r>
          </a:p>
        </p:txBody>
      </p:sp>
      <p:pic>
        <p:nvPicPr>
          <p:cNvPr id="137" name="Picture 136" descr="qr_repo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