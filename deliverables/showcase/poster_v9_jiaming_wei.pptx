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0"/>
  </p:normalViewPr>
  <p:slideViewPr>
    <p:cSldViewPr snapToGrid="0" snapToObjects="1">
      <p:cViewPr>
        <p:scale>
          <a:sx n="55" d="100"/>
          <a:sy n="55" d="100"/>
        </p:scale>
        <p:origin x="1320" y="-4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80624"/>
            <a:ext cx="21384000" cy="290945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_m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1384000" cy="46347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1384000" cy="152561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ai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" y="595805"/>
            <a:ext cx="1827193" cy="1169636"/>
          </a:xfrm>
          <a:prstGeom prst="rect">
            <a:avLst/>
          </a:prstGeom>
        </p:spPr>
      </p:pic>
      <p:pic>
        <p:nvPicPr>
          <p:cNvPr id="6" name="Picture 5" descr="cdi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4374" y="443244"/>
            <a:ext cx="1925207" cy="1474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35215" y="360000"/>
            <a:ext cx="15526985" cy="1440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6000"/>
              </a:lnSpc>
            </a:pPr>
            <a:r>
              <a:rPr sz="4400" b="0" i="0">
                <a:solidFill>
                  <a:srgbClr val="FFFFFF"/>
                </a:solidFill>
                <a:latin typeface="Georgia"/>
              </a:rPr>
              <a:t>When Is Expensive Perception Worth Paying For?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779" y="2129501"/>
            <a:ext cx="20061802" cy="457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i="0">
                <a:solidFill>
                  <a:srgbClr val="FFFFFF"/>
                </a:solidFill>
                <a:latin typeface="Arial"/>
              </a:rPr>
              <a:t>Jiaming Wei          Supervisors: Prof. María Pérez-Ortiz  ·  Zekun Wu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911" y="2569652"/>
            <a:ext cx="20061802" cy="4068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C9C6FF"/>
                </a:solidFill>
                <a:latin typeface="Arial"/>
              </a:rPr>
              <a:t>UCL Centre for Artificial Intelligence          Holistic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7779" y="3308278"/>
            <a:ext cx="20061802" cy="1078916"/>
          </a:xfrm>
          <a:prstGeom prst="rect">
            <a:avLst/>
          </a:prstGeom>
          <a:gradFill rotWithShape="1">
            <a:gsLst>
              <a:gs pos="0">
                <a:srgbClr val="141E41"/>
              </a:gs>
              <a:gs pos="100000">
                <a:srgbClr val="3F3AC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7779" y="3308277"/>
            <a:ext cx="238442" cy="1078917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90585" y="3363957"/>
            <a:ext cx="18536190" cy="927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i="0">
                <a:solidFill>
                  <a:srgbClr val="FFFFFF"/>
                </a:solidFill>
                <a:latin typeface="Georgia"/>
              </a:rPr>
              <a:t>Testing when richer web-agent representations help — and whether their value can be predicted cheaply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-375" y="28403797"/>
            <a:ext cx="21384000" cy="1881588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-375" y="28403797"/>
            <a:ext cx="21384000" cy="101707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27200" y="29119390"/>
            <a:ext cx="12438317" cy="1017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83" b="0" i="0">
                <a:solidFill>
                  <a:srgbClr val="FFFFFF"/>
                </a:solidFill>
                <a:latin typeface="Arial"/>
              </a:rPr>
              <a:t>jiaming.wei.25@ucl.ac.uk</a:t>
            </a:r>
          </a:p>
          <a:p>
            <a:pPr>
              <a:lnSpc>
                <a:spcPct val="145000"/>
              </a:lnSpc>
            </a:pPr>
            <a:r>
              <a:rPr sz="1483" b="0" i="0">
                <a:solidFill>
                  <a:srgbClr val="FFFFFF"/>
                </a:solidFill>
                <a:latin typeface="Arial"/>
              </a:rPr>
              <a:t>Paper, code &amp; full results: github.com/Quarkgluonmixture/Cost-Aware-Routing-for-Web-Usage-Agents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399552" y="29383118"/>
            <a:ext cx="4831105" cy="355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88" b="0" spc="100">
                <a:solidFill>
                  <a:srgbClr val="8892B0"/>
                </a:solidFill>
                <a:latin typeface="Consolas"/>
              </a:rPr>
              <a:t>Holistic AI × UCL CDI · 16 September 2026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399552" y="29140955"/>
            <a:ext cx="4831105" cy="406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5049F9"/>
                </a:solidFill>
                <a:latin typeface="Consolas"/>
              </a:rPr>
              <a:t>Explore all 8 settings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200" y="4788000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2323" y="4744800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50" b="1" i="0">
                <a:solidFill>
                  <a:srgbClr val="141E41"/>
                </a:solidFill>
                <a:latin typeface="Consolas"/>
              </a:rPr>
              <a:t>WHAT AN AGENT SEES, AND WHO CHOOSES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7200" y="5105836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96836" y="5116007"/>
            <a:ext cx="188931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syst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00" y="5328000"/>
            <a:ext cx="20062800" cy="746025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27200" y="13076255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2323" y="13033055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50" b="1" i="0">
                <a:solidFill>
                  <a:srgbClr val="141E41"/>
                </a:solidFill>
                <a:latin typeface="Consolas"/>
              </a:rPr>
              <a:t>THE SAME TASK, SEEN TWO WAYS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7200" y="13394091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96836" y="13404262"/>
            <a:ext cx="188931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27200" y="13616255"/>
            <a:ext cx="20062800" cy="2962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i="0">
                <a:solidFill>
                  <a:srgbClr val="12162E"/>
                </a:solidFill>
                <a:latin typeface="Arial"/>
              </a:rPr>
              <a:t>“Go to my listing of the blue bike and change the price to $85.50 — and say so in the description.”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7200" y="14020520"/>
            <a:ext cx="86400" cy="2503275"/>
          </a:xfrm>
          <a:prstGeom prst="rect">
            <a:avLst/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7200" y="14056520"/>
            <a:ext cx="144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400" b="1" i="0">
                <a:solidFill>
                  <a:srgbClr val="E8720C"/>
                </a:solidFill>
                <a:latin typeface="Consolas"/>
              </a:rPr>
              <a:t>READ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7200" y="14452520"/>
            <a:ext cx="1440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0" i="0">
                <a:solidFill>
                  <a:srgbClr val="5D6787"/>
                </a:solidFill>
                <a:latin typeface="Arial"/>
              </a:rPr>
              <a:t>page text only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7200" y="15028520"/>
            <a:ext cx="1440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14855F"/>
                </a:solidFill>
                <a:latin typeface="Arial"/>
              </a:rPr>
              <a:t>12 steps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14855F"/>
                </a:solidFill>
                <a:latin typeface="Arial"/>
              </a:rPr>
              <a:t>8 pages seen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14855F"/>
                </a:solidFill>
                <a:latin typeface="Arial"/>
              </a:rPr>
              <a:t>$0.09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7200" y="15712520"/>
            <a:ext cx="144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1" i="0">
                <a:solidFill>
                  <a:srgbClr val="14855F"/>
                </a:solidFill>
                <a:latin typeface="Arial"/>
              </a:rPr>
              <a:t>solved</a:t>
            </a:r>
          </a:p>
        </p:txBody>
      </p:sp>
      <p:pic>
        <p:nvPicPr>
          <p:cNvPr id="84" name="Picture 83" descr="lane_read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3200" y="14020520"/>
            <a:ext cx="6027600" cy="1963275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2383200" y="14020520"/>
            <a:ext cx="6027600" cy="1963275"/>
          </a:xfrm>
          <a:prstGeom prst="rect">
            <a:avLst/>
          </a:prstGeom>
          <a:noFill/>
          <a:ln w="8890">
            <a:solidFill>
              <a:srgbClr val="C9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83200" y="16037795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 i="0">
                <a:solidFill>
                  <a:srgbClr val="141E41"/>
                </a:solidFill>
                <a:latin typeface="Arial"/>
              </a:rPr>
              <a:t>step 5 · type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83200" y="16271795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5D6787"/>
                </a:solidFill>
                <a:latin typeface="Arial"/>
              </a:rPr>
              <a:t>$0.024 spent</a:t>
            </a:r>
          </a:p>
        </p:txBody>
      </p:sp>
      <p:pic>
        <p:nvPicPr>
          <p:cNvPr id="88" name="Picture 87" descr="lane_read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4800" y="14020520"/>
            <a:ext cx="6027600" cy="1963275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8554800" y="14020520"/>
            <a:ext cx="6027600" cy="1963275"/>
          </a:xfrm>
          <a:prstGeom prst="rect">
            <a:avLst/>
          </a:prstGeom>
          <a:noFill/>
          <a:ln w="8890">
            <a:solidFill>
              <a:srgbClr val="C9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54800" y="16037795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 i="0">
                <a:solidFill>
                  <a:srgbClr val="141E41"/>
                </a:solidFill>
                <a:latin typeface="Arial"/>
              </a:rPr>
              <a:t>step 9 · scroll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54800" y="16271795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5D6787"/>
                </a:solidFill>
                <a:latin typeface="Arial"/>
              </a:rPr>
              <a:t>$0.069 spent</a:t>
            </a:r>
          </a:p>
        </p:txBody>
      </p:sp>
      <p:pic>
        <p:nvPicPr>
          <p:cNvPr id="92" name="Picture 91" descr="lane_read_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26400" y="14020520"/>
            <a:ext cx="6027600" cy="1963275"/>
          </a:xfrm>
          <a:prstGeom prst="rect">
            <a:avLst/>
          </a:prstGeom>
        </p:spPr>
      </p:pic>
      <p:sp>
        <p:nvSpPr>
          <p:cNvPr id="93" name="Rectangle 92"/>
          <p:cNvSpPr/>
          <p:nvPr/>
        </p:nvSpPr>
        <p:spPr>
          <a:xfrm>
            <a:off x="14726400" y="14020520"/>
            <a:ext cx="6027600" cy="1963275"/>
          </a:xfrm>
          <a:prstGeom prst="rect">
            <a:avLst/>
          </a:prstGeom>
          <a:noFill/>
          <a:ln w="8890">
            <a:solidFill>
              <a:srgbClr val="C9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726400" y="16037795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 i="0">
                <a:solidFill>
                  <a:srgbClr val="141E41"/>
                </a:solidFill>
                <a:latin typeface="Arial"/>
              </a:rPr>
              <a:t>step 11 · finish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726400" y="16271795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5D6787"/>
                </a:solidFill>
                <a:latin typeface="Arial"/>
              </a:rPr>
              <a:t>$0.090 spent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27200" y="16559795"/>
            <a:ext cx="86400" cy="2503275"/>
          </a:xfrm>
          <a:prstGeom prst="rect">
            <a:avLst/>
          </a:prstGeom>
          <a:solidFill>
            <a:srgbClr val="1F5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07200" y="16595795"/>
            <a:ext cx="144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400" b="1" i="0">
                <a:solidFill>
                  <a:srgbClr val="1F5FD6"/>
                </a:solidFill>
                <a:latin typeface="Consolas"/>
              </a:rPr>
              <a:t>LOOK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7200" y="16991795"/>
            <a:ext cx="1440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0" i="0">
                <a:solidFill>
                  <a:srgbClr val="5D6787"/>
                </a:solidFill>
                <a:latin typeface="Arial"/>
              </a:rPr>
              <a:t>screenshot only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7200" y="17567795"/>
            <a:ext cx="1440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C2352B"/>
                </a:solidFill>
                <a:latin typeface="Arial"/>
              </a:rPr>
              <a:t>26 steps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C2352B"/>
                </a:solidFill>
                <a:latin typeface="Arial"/>
              </a:rPr>
              <a:t>9 pages seen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50" b="1" i="0">
                <a:solidFill>
                  <a:srgbClr val="C2352B"/>
                </a:solidFill>
                <a:latin typeface="Arial"/>
              </a:rPr>
              <a:t>$0.10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7200" y="18251795"/>
            <a:ext cx="144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000" b="1" i="0">
                <a:solidFill>
                  <a:srgbClr val="C2352B"/>
                </a:solidFill>
                <a:latin typeface="Arial"/>
              </a:rPr>
              <a:t>gave up</a:t>
            </a:r>
          </a:p>
        </p:txBody>
      </p:sp>
      <p:pic>
        <p:nvPicPr>
          <p:cNvPr id="101" name="Picture 100" descr="lane_look_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3200" y="16559795"/>
            <a:ext cx="6027600" cy="1963275"/>
          </a:xfrm>
          <a:prstGeom prst="rect">
            <a:avLst/>
          </a:prstGeom>
        </p:spPr>
      </p:pic>
      <p:sp>
        <p:nvSpPr>
          <p:cNvPr id="102" name="Rectangle 101"/>
          <p:cNvSpPr/>
          <p:nvPr/>
        </p:nvSpPr>
        <p:spPr>
          <a:xfrm>
            <a:off x="2383200" y="16559795"/>
            <a:ext cx="6027600" cy="1963275"/>
          </a:xfrm>
          <a:prstGeom prst="rect">
            <a:avLst/>
          </a:prstGeom>
          <a:noFill/>
          <a:ln w="8890">
            <a:solidFill>
              <a:srgbClr val="C9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83200" y="18577070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 i="0">
                <a:solidFill>
                  <a:srgbClr val="141E41"/>
                </a:solidFill>
                <a:latin typeface="Arial"/>
              </a:rPr>
              <a:t>step 3 · click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383200" y="18811070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5D6787"/>
                </a:solidFill>
                <a:latin typeface="Arial"/>
              </a:rPr>
              <a:t>$0.015 spent</a:t>
            </a:r>
          </a:p>
        </p:txBody>
      </p:sp>
      <p:pic>
        <p:nvPicPr>
          <p:cNvPr id="105" name="Picture 104" descr="lane_look_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4800" y="16559795"/>
            <a:ext cx="6027600" cy="1963275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8554800" y="16559795"/>
            <a:ext cx="6027600" cy="1963275"/>
          </a:xfrm>
          <a:prstGeom prst="rect">
            <a:avLst/>
          </a:prstGeom>
          <a:noFill/>
          <a:ln w="8890">
            <a:solidFill>
              <a:srgbClr val="C9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54800" y="18577070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 i="0">
                <a:solidFill>
                  <a:srgbClr val="141E41"/>
                </a:solidFill>
                <a:latin typeface="Arial"/>
              </a:rPr>
              <a:t>step 18 · scroll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54800" y="18811070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5D6787"/>
                </a:solidFill>
                <a:latin typeface="Arial"/>
              </a:rPr>
              <a:t>$0.075 spent</a:t>
            </a:r>
          </a:p>
        </p:txBody>
      </p:sp>
      <p:pic>
        <p:nvPicPr>
          <p:cNvPr id="109" name="Picture 108" descr="lane_look_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26400" y="16559795"/>
            <a:ext cx="6027600" cy="1963275"/>
          </a:xfrm>
          <a:prstGeom prst="rect">
            <a:avLst/>
          </a:prstGeom>
        </p:spPr>
      </p:pic>
      <p:sp>
        <p:nvSpPr>
          <p:cNvPr id="110" name="Rectangle 109"/>
          <p:cNvSpPr/>
          <p:nvPr/>
        </p:nvSpPr>
        <p:spPr>
          <a:xfrm>
            <a:off x="14726400" y="16559795"/>
            <a:ext cx="6027600" cy="1963275"/>
          </a:xfrm>
          <a:prstGeom prst="rect">
            <a:avLst/>
          </a:prstGeom>
          <a:noFill/>
          <a:ln w="8890">
            <a:solidFill>
              <a:srgbClr val="C9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4726400" y="18577070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50" b="1" i="0">
                <a:solidFill>
                  <a:srgbClr val="141E41"/>
                </a:solidFill>
                <a:latin typeface="Arial"/>
              </a:rPr>
              <a:t>step 20 · scroll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726400" y="18811070"/>
            <a:ext cx="60636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C2352B"/>
                </a:solidFill>
                <a:latin typeface="Arial"/>
              </a:rPr>
              <a:t>$0.083 · </a:t>
            </a:r>
            <a:r>
              <a:rPr sz="1400" b="1" i="0">
                <a:solidFill>
                  <a:srgbClr val="C2352B"/>
                </a:solidFill>
                <a:latin typeface="Arial"/>
              </a:rPr>
              <a:t>back on frame 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7200" y="19027070"/>
            <a:ext cx="20062800" cy="2551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 i="0">
                <a:solidFill>
                  <a:srgbClr val="12162E"/>
                </a:solidFill>
                <a:latin typeface="Arial"/>
              </a:rPr>
              <a:t>Both start on the same form.</a:t>
            </a:r>
            <a:r>
              <a:rPr sz="1550" b="0" i="0">
                <a:solidFill>
                  <a:srgbClr val="12162E"/>
                </a:solidFill>
                <a:latin typeface="Arial"/>
              </a:rPr>
              <a:t> Then READ finishes it, while </a:t>
            </a:r>
            <a:r>
              <a:rPr sz="1550" b="1" i="0">
                <a:solidFill>
                  <a:srgbClr val="12162E"/>
                </a:solidFill>
                <a:latin typeface="Arial"/>
              </a:rPr>
              <a:t>LOOK ends up back on the page it started from</a:t>
            </a:r>
            <a:r>
              <a:rPr sz="1550" b="0" i="0">
                <a:solidFill>
                  <a:srgbClr val="12162E"/>
                </a:solidFill>
                <a:latin typeface="Arial"/>
              </a:rPr>
              <a:t>. One recorded run per view; both outcomes repeat on an independent rerun.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200" y="19498187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2323" y="19454987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50" b="1" i="0">
                <a:solidFill>
                  <a:srgbClr val="141E41"/>
                </a:solidFill>
                <a:latin typeface="Consolas"/>
              </a:rPr>
              <a:t>1 · SIX VIEWS, EIGHT SETTINGS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7200" y="19816023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96836" y="19826194"/>
            <a:ext cx="52815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2146464" y="20038187"/>
            <a:ext cx="3612672" cy="2950104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146464" y="20038187"/>
            <a:ext cx="3612672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6" name="Picture 115" descr="fig_f5_design_matrix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18464" y="20160587"/>
            <a:ext cx="3468672" cy="275570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534800" y="19498187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9923" y="19454987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50" b="1" i="0">
                <a:solidFill>
                  <a:srgbClr val="141E41"/>
                </a:solidFill>
                <a:latin typeface="Consolas"/>
              </a:rPr>
              <a:t>2 · THEY SOLVE DIFFERENT TASKS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34800" y="19816023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04436" y="19826194"/>
            <a:ext cx="52815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7986384" y="20038187"/>
            <a:ext cx="5548032" cy="2385652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986384" y="20038187"/>
            <a:ext cx="5548032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9" name="Picture 118" descr="venn_b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8384" y="20160587"/>
            <a:ext cx="5404032" cy="2191253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7534800" y="22495839"/>
            <a:ext cx="6451200" cy="279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12162E"/>
                </a:solidFill>
                <a:latin typeface="Arial"/>
              </a:rPr>
              <a:t>The sets overlap — but do not coincide.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338800" y="19498187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43923" y="19454987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50" b="1" i="0">
                <a:solidFill>
                  <a:srgbClr val="141E41"/>
                </a:solidFill>
                <a:latin typeface="Consolas"/>
              </a:rPr>
              <a:t>3 · THEY BEHAVE DIFFERENTLY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338800" y="19816023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508436" y="19826194"/>
            <a:ext cx="52815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4338800" y="20038187"/>
            <a:ext cx="6451200" cy="2581780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4338800" y="20038187"/>
            <a:ext cx="6451200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3" name="Picture 122" descr="behaviou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10800" y="20160587"/>
            <a:ext cx="6307200" cy="2387379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4338800" y="22691967"/>
            <a:ext cx="6451200" cy="279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12162E"/>
                </a:solidFill>
                <a:latin typeface="Arial"/>
              </a:rPr>
              <a:t>Vision scrolls ~4× more.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200" y="23367773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2323" y="23324573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50" b="1" i="0">
                <a:solidFill>
                  <a:srgbClr val="141E41"/>
                </a:solidFill>
                <a:latin typeface="Consolas"/>
              </a:rPr>
              <a:t>4 · AND THEY FAIL DIFFERENTLY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7200" y="23685609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96836" y="23695780"/>
            <a:ext cx="52815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727200" y="23907773"/>
            <a:ext cx="6451200" cy="3146936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27200" y="23907773"/>
            <a:ext cx="6451200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7" name="Picture 126" descr="failu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9200" y="24030173"/>
            <a:ext cx="6307200" cy="2952536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727200" y="27126709"/>
            <a:ext cx="6451200" cy="559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12162E"/>
                </a:solidFill>
                <a:latin typeface="Arial"/>
              </a:rPr>
              <a:t>One side dies of something you can name; the other never arrives.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34800" y="23367773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9923" y="23324573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50" b="1" i="0">
                <a:solidFill>
                  <a:srgbClr val="141E41"/>
                </a:solidFill>
                <a:latin typeface="Consolas"/>
              </a:rPr>
              <a:t>5 · SO CHOOSE PER TASK? NOT SO FAST.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34800" y="23685609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04436" y="23695780"/>
            <a:ext cx="52815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8244432" y="23907773"/>
            <a:ext cx="5031936" cy="3727595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244432" y="23907773"/>
            <a:ext cx="5031936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1" name="Picture 130" descr="fig_f13_dominance_plan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6432" y="24030173"/>
            <a:ext cx="4887936" cy="3533196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7534800" y="27707368"/>
            <a:ext cx="6451200" cy="279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12162E"/>
                </a:solidFill>
                <a:latin typeface="Arial"/>
              </a:rPr>
              <a:t>A win lands in the shaded region. None does.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338800" y="23367773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43923" y="23324573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50" b="1" i="0">
                <a:solidFill>
                  <a:srgbClr val="141E41"/>
                </a:solidFill>
                <a:latin typeface="Consolas"/>
              </a:rPr>
              <a:t>6 · AND THIS IS WHY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338800" y="23685609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508436" y="23695780"/>
            <a:ext cx="52815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14338800" y="23907773"/>
            <a:ext cx="6451200" cy="3684894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4338800" y="23907773"/>
            <a:ext cx="6451200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5" name="Picture 134" descr="poster_label_supply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410800" y="24030173"/>
            <a:ext cx="6307200" cy="3490494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14338800" y="27664667"/>
            <a:ext cx="6451200" cy="2798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i="0">
                <a:solidFill>
                  <a:srgbClr val="12162E"/>
                </a:solidFill>
                <a:latin typeface="Arial"/>
              </a:rPr>
              <a:t>More routing upside, less usable training signal.</a:t>
            </a:r>
          </a:p>
        </p:txBody>
      </p:sp>
      <p:pic>
        <p:nvPicPr>
          <p:cNvPr id="137" name="Picture 136" descr="qr_repo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590657" y="28781728"/>
            <a:ext cx="1127343" cy="11273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141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Zekun Wu</cp:lastModifiedBy>
  <cp:revision>5</cp:revision>
  <dcterms:created xsi:type="dcterms:W3CDTF">2013-01-27T09:14:16Z</dcterms:created>
  <dcterms:modified xsi:type="dcterms:W3CDTF">2026-08-29T21:12:10Z</dcterms:modified>
  <cp:category/>
</cp:coreProperties>
</file>