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0"/>
  </p:normalViewPr>
  <p:slideViewPr>
    <p:cSldViewPr snapToGrid="0" snapToObjects="1">
      <p:cViewPr>
        <p:scale>
          <a:sx n="55" d="100"/>
          <a:sy n="55" d="100"/>
        </p:scale>
        <p:origin x="1320" y="-49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0624"/>
            <a:ext cx="21384000" cy="290945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_m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21384000" cy="463478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1384000" cy="152561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h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79" y="595805"/>
            <a:ext cx="1827193" cy="1169636"/>
          </a:xfrm>
          <a:prstGeom prst="rect">
            <a:avLst/>
          </a:prstGeom>
        </p:spPr>
      </p:pic>
      <p:pic>
        <p:nvPicPr>
          <p:cNvPr id="6" name="Picture 5" descr="cd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64374" y="443244"/>
            <a:ext cx="1925207" cy="14747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35215" y="360000"/>
            <a:ext cx="15526985" cy="14400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6000"/>
              </a:lnSpc>
            </a:pPr>
            <a:r>
              <a:rPr sz="4400" b="0" i="0">
                <a:solidFill>
                  <a:srgbClr val="FFFFFF"/>
                </a:solidFill>
                <a:latin typeface="Georgia"/>
              </a:rPr>
              <a:t>When Is Expensive Perception Worth Paying For?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7779" y="2129501"/>
            <a:ext cx="20061802" cy="457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 i="0">
                <a:solidFill>
                  <a:srgbClr val="FFFFFF"/>
                </a:solidFill>
                <a:latin typeface="Arial"/>
              </a:rPr>
              <a:t>Jiaming Wei          Supervisors: Prof. María Pérez-Ortiz  ·  Zekun Wu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911" y="2569652"/>
            <a:ext cx="20061802" cy="4068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C9C6FF"/>
                </a:solidFill>
                <a:latin typeface="Arial"/>
              </a:rPr>
              <a:t>UCL Centre for Artificial Intelligence          Holistic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7779" y="3308278"/>
            <a:ext cx="20061802" cy="1078916"/>
          </a:xfrm>
          <a:prstGeom prst="rect">
            <a:avLst/>
          </a:prstGeom>
          <a:gradFill rotWithShape="1">
            <a:gsLst>
              <a:gs pos="0">
                <a:srgbClr val="141E41"/>
              </a:gs>
              <a:gs pos="100000">
                <a:srgbClr val="3F3AC4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7779" y="3308277"/>
            <a:ext cx="238442" cy="107891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90585" y="3363957"/>
            <a:ext cx="18536190" cy="927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i="0">
                <a:solidFill>
                  <a:srgbClr val="FFFFFF"/>
                </a:solidFill>
                <a:latin typeface="Georgia"/>
              </a:rPr>
              <a:t>Measuring the ceiling, the predictability and the economics of representation routing in web agents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-375" y="28403797"/>
            <a:ext cx="21384000" cy="1881588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-375" y="28403797"/>
            <a:ext cx="21384000" cy="10170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27200" y="29119390"/>
            <a:ext cx="12438317" cy="1017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jiaming.wei.25@ucl.ac.uk</a:t>
            </a:r>
          </a:p>
          <a:p>
            <a:pPr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Paper, code &amp; full results: github.com/Quarkgluonmixture/Cost-Aware-Routing-for-Web-Usage-Agents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399552" y="29383118"/>
            <a:ext cx="4831105" cy="355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88" b="0" spc="100">
                <a:solidFill>
                  <a:srgbClr val="8892B0"/>
                </a:solidFill>
                <a:latin typeface="Consolas"/>
              </a:rPr>
              <a:t>Holistic AI × UCL CDI · 16 September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399552" y="29140955"/>
            <a:ext cx="4831105" cy="4068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 i="0">
                <a:solidFill>
                  <a:srgbClr val="5049F9"/>
                </a:solidFill>
                <a:latin typeface="Consolas"/>
              </a:rPr>
              <a:t>Explore all 8 settings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4788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4744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WHAT AN AGENT SEES, AND WHO CHOOSES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5105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5116007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7" name="Picture 76" descr="syste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7200" y="5328000"/>
            <a:ext cx="20062800" cy="746025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27200" y="13076255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3033055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THE SAME TASK, SEEN TWO WAYS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3394091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3404262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27200" y="13616255"/>
            <a:ext cx="20062800" cy="2962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2162E"/>
                </a:solidFill>
                <a:latin typeface="Arial"/>
              </a:rPr>
              <a:t>“Go to my listing of the blue bike and change the price to $85.50 — and say so in the description.”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27200" y="14020520"/>
            <a:ext cx="86400" cy="2429980"/>
          </a:xfrm>
          <a:prstGeom prst="rect">
            <a:avLst/>
          </a:prstGeom>
          <a:solidFill>
            <a:srgbClr val="E8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07200" y="14056520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400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7200" y="1445252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page text only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7200" y="15064520"/>
            <a:ext cx="1440000" cy="10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12 steps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8 different pages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$0.09</a:t>
            </a:r>
            <a:r>
              <a:rPr sz="1550" b="0" i="0">
                <a:solidFill>
                  <a:srgbClr val="14855F"/>
                </a:solidFill>
                <a:latin typeface="Arial"/>
              </a:rPr>
              <a:t> · solved</a:t>
            </a:r>
          </a:p>
        </p:txBody>
      </p:sp>
      <p:pic>
        <p:nvPicPr>
          <p:cNvPr id="83" name="Picture 82" descr="lane_re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3200" y="14020520"/>
            <a:ext cx="4484700" cy="1889981"/>
          </a:xfrm>
          <a:prstGeom prst="rect">
            <a:avLst/>
          </a:prstGeom>
        </p:spPr>
      </p:pic>
      <p:sp>
        <p:nvSpPr>
          <p:cNvPr id="84" name="Rectangle 83"/>
          <p:cNvSpPr/>
          <p:nvPr/>
        </p:nvSpPr>
        <p:spPr>
          <a:xfrm>
            <a:off x="2383200" y="14020520"/>
            <a:ext cx="4484700" cy="1889980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383200" y="15964500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0 · click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383200" y="16198500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$0.004 spent</a:t>
            </a:r>
          </a:p>
        </p:txBody>
      </p:sp>
      <p:pic>
        <p:nvPicPr>
          <p:cNvPr id="87" name="Picture 86" descr="lane_read_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1900" y="14020520"/>
            <a:ext cx="4484700" cy="1889981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7011900" y="14020520"/>
            <a:ext cx="4484700" cy="1889980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011900" y="15964500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2 · click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11900" y="16198500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$0.012 spent</a:t>
            </a:r>
          </a:p>
        </p:txBody>
      </p:sp>
      <p:pic>
        <p:nvPicPr>
          <p:cNvPr id="91" name="Picture 90" descr="lane_read_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640600" y="14020520"/>
            <a:ext cx="4484700" cy="1889981"/>
          </a:xfrm>
          <a:prstGeom prst="rect">
            <a:avLst/>
          </a:prstGeom>
        </p:spPr>
      </p:pic>
      <p:sp>
        <p:nvSpPr>
          <p:cNvPr id="92" name="Rectangle 91"/>
          <p:cNvSpPr/>
          <p:nvPr/>
        </p:nvSpPr>
        <p:spPr>
          <a:xfrm>
            <a:off x="11640600" y="14020520"/>
            <a:ext cx="4484700" cy="1889980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1640600" y="15964500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5 · type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640600" y="16198500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$0.024 spent</a:t>
            </a:r>
          </a:p>
        </p:txBody>
      </p:sp>
      <p:pic>
        <p:nvPicPr>
          <p:cNvPr id="95" name="Picture 94" descr="lane_read_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69300" y="14020520"/>
            <a:ext cx="4484700" cy="1889981"/>
          </a:xfrm>
          <a:prstGeom prst="rect">
            <a:avLst/>
          </a:prstGeom>
        </p:spPr>
      </p:pic>
      <p:sp>
        <p:nvSpPr>
          <p:cNvPr id="96" name="Rectangle 95"/>
          <p:cNvSpPr/>
          <p:nvPr/>
        </p:nvSpPr>
        <p:spPr>
          <a:xfrm>
            <a:off x="16269300" y="14020520"/>
            <a:ext cx="4484700" cy="1889980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6269300" y="15964500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11 · finish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6269300" y="16198500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$0.090 spent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27200" y="16558500"/>
            <a:ext cx="86400" cy="2429980"/>
          </a:xfrm>
          <a:prstGeom prst="rect">
            <a:avLst/>
          </a:prstGeom>
          <a:solidFill>
            <a:srgbClr val="1F5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07200" y="16594500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400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07200" y="16990500"/>
            <a:ext cx="1440000" cy="57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screenshot only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07200" y="17602500"/>
            <a:ext cx="1440000" cy="10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26 steps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9 different pages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$0.10</a:t>
            </a:r>
            <a:r>
              <a:rPr sz="1550" b="0" i="0">
                <a:solidFill>
                  <a:srgbClr val="C2352B"/>
                </a:solidFill>
                <a:latin typeface="Arial"/>
              </a:rPr>
              <a:t> · gave up</a:t>
            </a:r>
          </a:p>
        </p:txBody>
      </p:sp>
      <p:pic>
        <p:nvPicPr>
          <p:cNvPr id="103" name="Picture 102" descr="lane_re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3200" y="16558500"/>
            <a:ext cx="4484700" cy="1889981"/>
          </a:xfrm>
          <a:prstGeom prst="rect">
            <a:avLst/>
          </a:prstGeom>
        </p:spPr>
      </p:pic>
      <p:sp>
        <p:nvSpPr>
          <p:cNvPr id="104" name="Rectangle 103"/>
          <p:cNvSpPr/>
          <p:nvPr/>
        </p:nvSpPr>
        <p:spPr>
          <a:xfrm>
            <a:off x="2383200" y="16558500"/>
            <a:ext cx="4484700" cy="1889980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383200" y="18502480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0 · click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383200" y="18736480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$0.004 spent</a:t>
            </a:r>
          </a:p>
        </p:txBody>
      </p:sp>
      <p:pic>
        <p:nvPicPr>
          <p:cNvPr id="107" name="Picture 106" descr="lane_look_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11900" y="16558500"/>
            <a:ext cx="4484700" cy="1889981"/>
          </a:xfrm>
          <a:prstGeom prst="rect">
            <a:avLst/>
          </a:prstGeom>
        </p:spPr>
      </p:pic>
      <p:sp>
        <p:nvSpPr>
          <p:cNvPr id="108" name="Rectangle 107"/>
          <p:cNvSpPr/>
          <p:nvPr/>
        </p:nvSpPr>
        <p:spPr>
          <a:xfrm>
            <a:off x="7011900" y="16558500"/>
            <a:ext cx="4484700" cy="1889980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011900" y="18502480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3 · click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011900" y="18736480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$0.015 spent</a:t>
            </a:r>
          </a:p>
        </p:txBody>
      </p:sp>
      <p:pic>
        <p:nvPicPr>
          <p:cNvPr id="111" name="Picture 110" descr="lane_look_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640600" y="16558500"/>
            <a:ext cx="4484700" cy="1889981"/>
          </a:xfrm>
          <a:prstGeom prst="rect">
            <a:avLst/>
          </a:prstGeom>
        </p:spPr>
      </p:pic>
      <p:sp>
        <p:nvSpPr>
          <p:cNvPr id="112" name="Rectangle 111"/>
          <p:cNvSpPr/>
          <p:nvPr/>
        </p:nvSpPr>
        <p:spPr>
          <a:xfrm>
            <a:off x="11640600" y="16558500"/>
            <a:ext cx="4484700" cy="1889980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1640600" y="18502480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9 · scroll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640600" y="18736480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$0.039 spent</a:t>
            </a:r>
          </a:p>
        </p:txBody>
      </p:sp>
      <p:pic>
        <p:nvPicPr>
          <p:cNvPr id="115" name="Picture 114" descr="lane_look_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269300" y="16558500"/>
            <a:ext cx="4484700" cy="1889981"/>
          </a:xfrm>
          <a:prstGeom prst="rect">
            <a:avLst/>
          </a:prstGeom>
        </p:spPr>
      </p:pic>
      <p:sp>
        <p:nvSpPr>
          <p:cNvPr id="116" name="Rectangle 115"/>
          <p:cNvSpPr/>
          <p:nvPr/>
        </p:nvSpPr>
        <p:spPr>
          <a:xfrm>
            <a:off x="16269300" y="16558500"/>
            <a:ext cx="4484700" cy="1889980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6269300" y="18502480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20 · scroll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6269300" y="18736480"/>
            <a:ext cx="45207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$0.083 spent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27200" y="19024480"/>
            <a:ext cx="20062800" cy="2551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1" i="0">
                <a:solidFill>
                  <a:srgbClr val="12162E"/>
                </a:solidFill>
                <a:latin typeface="Arial"/>
              </a:rPr>
              <a:t>LOOK's last three frames are the same page</a:t>
            </a:r>
            <a:r>
              <a:rPr sz="1550" b="0" i="0">
                <a:solidFill>
                  <a:srgbClr val="12162E"/>
                </a:solidFill>
                <a:latin typeface="Arial"/>
              </a:rPr>
              <a:t>, pixel for pixel, seventeen steps apart — it saw only 9 distinct pages in 26 steps. One recorded run per view; both outcomes repeat on an independent rerun.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9495597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9452397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DIFFERENT VIEWS, DIFFERENT TASKS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9813433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9823604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/>
          <p:cNvSpPr/>
          <p:nvPr/>
        </p:nvSpPr>
        <p:spPr>
          <a:xfrm>
            <a:off x="727200" y="20035597"/>
            <a:ext cx="6451200" cy="2794678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727200" y="20035597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2" name="Picture 121" descr="venn_b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5200" y="20193997"/>
            <a:ext cx="6235200" cy="2528279"/>
          </a:xfrm>
          <a:prstGeom prst="rect">
            <a:avLst/>
          </a:prstGeom>
        </p:spPr>
      </p:pic>
      <p:sp>
        <p:nvSpPr>
          <p:cNvPr id="123" name="TextBox 122"/>
          <p:cNvSpPr txBox="1"/>
          <p:nvPr/>
        </p:nvSpPr>
        <p:spPr>
          <a:xfrm>
            <a:off x="727200" y="22902275"/>
            <a:ext cx="6451200" cy="5102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Tasks solved by each text-only view. The sets overlap; they do not coincide.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2359251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2354931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THEY ALSO BEHAVE DIFFERENTLY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2391034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23920517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727200" y="24132510"/>
            <a:ext cx="6451200" cy="100812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53"/>
              </a:spcAft>
            </a:pPr>
            <a:r>
              <a:rPr sz="2100" b="0" i="0">
                <a:solidFill>
                  <a:srgbClr val="12162E"/>
                </a:solidFill>
                <a:latin typeface="Arial"/>
              </a:rPr>
              <a:t>Across </a:t>
            </a:r>
            <a:r>
              <a:rPr sz="2100" b="1" i="0">
                <a:solidFill>
                  <a:srgbClr val="12162E"/>
                </a:solidFill>
                <a:latin typeface="Arial"/>
              </a:rPr>
              <a:t>26 behavioural measures</a:t>
            </a:r>
            <a:r>
              <a:rPr sz="2100" b="0" i="0">
                <a:solidFill>
                  <a:srgbClr val="12162E"/>
                </a:solidFill>
                <a:latin typeface="Arial"/>
              </a:rPr>
              <a:t>, how often a view is the extreme one in at least 7 of the 8 settings: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27200" y="25284636"/>
            <a:ext cx="64512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Consolas"/>
              </a:rPr>
              <a:t>view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984992" y="25284636"/>
            <a:ext cx="2193408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Consolas"/>
              </a:rPr>
              <a:t>measures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727200" y="25518636"/>
            <a:ext cx="6451200" cy="144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727200" y="25572636"/>
            <a:ext cx="4257792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900" b="0" i="0">
                <a:solidFill>
                  <a:srgbClr val="12162E"/>
                </a:solidFill>
                <a:latin typeface="Arial"/>
              </a:rPr>
              <a:t>Vision — screenshot only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984992" y="25572636"/>
            <a:ext cx="2193408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2000"/>
              </a:lnSpc>
              <a:spcAft>
                <a:spcPts val="0"/>
              </a:spcAft>
            </a:pPr>
            <a:r>
              <a:rPr sz="1900" b="1" i="0">
                <a:solidFill>
                  <a:srgbClr val="141E41"/>
                </a:solidFill>
                <a:latin typeface="Arial"/>
              </a:rPr>
              <a:t>9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727200" y="25860636"/>
            <a:ext cx="6451200" cy="90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727200" y="25918236"/>
            <a:ext cx="4257792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900" b="0" i="0">
                <a:solidFill>
                  <a:srgbClr val="12162E"/>
                </a:solidFill>
                <a:latin typeface="Arial"/>
              </a:rPr>
              <a:t>SoM — screenshot + text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984992" y="25918236"/>
            <a:ext cx="2193408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2000"/>
              </a:lnSpc>
              <a:spcAft>
                <a:spcPts val="0"/>
              </a:spcAft>
            </a:pPr>
            <a:r>
              <a:rPr sz="1900" b="1" i="0">
                <a:solidFill>
                  <a:srgbClr val="141E41"/>
                </a:solidFill>
                <a:latin typeface="Arial"/>
              </a:rPr>
              <a:t>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27200" y="26206236"/>
            <a:ext cx="6451200" cy="90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27200" y="26263836"/>
            <a:ext cx="4257792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900" b="0" i="0">
                <a:solidFill>
                  <a:srgbClr val="12162E"/>
                </a:solidFill>
                <a:latin typeface="Arial"/>
              </a:rPr>
              <a:t>DOM — page text only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984992" y="26263836"/>
            <a:ext cx="2193408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2000"/>
              </a:lnSpc>
              <a:spcAft>
                <a:spcPts val="0"/>
              </a:spcAft>
            </a:pPr>
            <a:r>
              <a:rPr sz="1900" b="1" i="0">
                <a:solidFill>
                  <a:srgbClr val="141E41"/>
                </a:solidFill>
                <a:latin typeface="Arial"/>
              </a:rPr>
              <a:t>0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27200" y="26551836"/>
            <a:ext cx="6451200" cy="90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27200" y="26609436"/>
            <a:ext cx="4257792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900" b="0" i="0">
                <a:solidFill>
                  <a:srgbClr val="12162E"/>
                </a:solidFill>
                <a:latin typeface="Arial"/>
              </a:rPr>
              <a:t>the 3 other text-only views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984992" y="26609436"/>
            <a:ext cx="2193408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2000"/>
              </a:lnSpc>
              <a:spcAft>
                <a:spcPts val="0"/>
              </a:spcAft>
            </a:pPr>
            <a:r>
              <a:rPr sz="1900" b="1" i="0">
                <a:solidFill>
                  <a:srgbClr val="141E41"/>
                </a:solidFill>
                <a:latin typeface="Arial"/>
              </a:rPr>
              <a:t>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27200" y="26897436"/>
            <a:ext cx="6451200" cy="90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27200" y="27027036"/>
            <a:ext cx="6451200" cy="8394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0" i="0">
                <a:solidFill>
                  <a:srgbClr val="5D6787"/>
                </a:solidFill>
                <a:latin typeface="Arial"/>
              </a:rPr>
              <a:t>The extremes sit with the two views that see the page. How the agent moves is set by whether it gets a picture, not by which text it gets.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800" y="19495597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19452397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SIX VIEWS, EIGHT SETTINGS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19813433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19823604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8373456" y="20035597"/>
            <a:ext cx="4773888" cy="3887437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8373456" y="20035597"/>
            <a:ext cx="4773888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3" name="Picture 142" descr="fig_f5_design_matrix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81456" y="20193997"/>
            <a:ext cx="4557888" cy="3621037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7534800" y="23995034"/>
            <a:ext cx="6451200" cy="5102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Success rate (%). Colour is what reaches the model: text, text + image, image.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800" y="24685269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24642069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AND THEY FAIL DIFFERENTLY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25003105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25013276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7534800" y="25225269"/>
            <a:ext cx="6451200" cy="6080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53"/>
              </a:spcAft>
            </a:pPr>
            <a:r>
              <a:rPr sz="1900" b="0" i="0">
                <a:solidFill>
                  <a:srgbClr val="12162E"/>
                </a:solidFill>
                <a:latin typeface="Arial"/>
              </a:rPr>
              <a:t>On tasks only one side solved, how did the loser fail? </a:t>
            </a:r>
            <a:r>
              <a:rPr sz="1900" b="1" i="0">
                <a:solidFill>
                  <a:srgbClr val="12162E"/>
                </a:solidFill>
                <a:latin typeface="Arial"/>
              </a:rPr>
              <a:t>× = versus its own everyday failure rate.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534800" y="25923345"/>
            <a:ext cx="6451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1" i="0">
                <a:solidFill>
                  <a:srgbClr val="141E41"/>
                </a:solidFill>
                <a:latin typeface="Arial"/>
              </a:rPr>
              <a:t>When the picture won, the text-only agent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534800" y="26168145"/>
            <a:ext cx="5031936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12162E"/>
                </a:solidFill>
                <a:latin typeface="Arial"/>
              </a:rPr>
              <a:t>gave up once it could not find it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2566736" y="26168145"/>
            <a:ext cx="1419264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2000"/>
              </a:lnSpc>
              <a:spcAft>
                <a:spcPts val="0"/>
              </a:spcAft>
            </a:pPr>
            <a:r>
              <a:rPr sz="1500" b="1" i="0">
                <a:solidFill>
                  <a:srgbClr val="141E41"/>
                </a:solidFill>
                <a:latin typeface="Arial"/>
              </a:rPr>
              <a:t>2.3×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7534800" y="26355345"/>
            <a:ext cx="6451200" cy="90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534800" y="26412945"/>
            <a:ext cx="5031936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12162E"/>
                </a:solidFill>
                <a:latin typeface="Arial"/>
              </a:rPr>
              <a:t>could not see what the task asked about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2566736" y="26412945"/>
            <a:ext cx="1419264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2000"/>
              </a:lnSpc>
              <a:spcAft>
                <a:spcPts val="0"/>
              </a:spcAft>
            </a:pPr>
            <a:r>
              <a:rPr sz="1500" b="1" i="0">
                <a:solidFill>
                  <a:srgbClr val="141E41"/>
                </a:solidFill>
                <a:latin typeface="Arial"/>
              </a:rPr>
              <a:t>2.2×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7534800" y="26600145"/>
            <a:ext cx="6451200" cy="90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7534800" y="26711745"/>
            <a:ext cx="64512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600" b="1" i="0">
                <a:solidFill>
                  <a:srgbClr val="141E41"/>
                </a:solidFill>
                <a:latin typeface="Arial"/>
              </a:rPr>
              <a:t>When the text won, the picture-only agent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7534800" y="26956545"/>
            <a:ext cx="5031936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12162E"/>
                </a:solidFill>
                <a:latin typeface="Arial"/>
              </a:rPr>
              <a:t>never turned the page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2566736" y="26956545"/>
            <a:ext cx="1419264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2000"/>
              </a:lnSpc>
              <a:spcAft>
                <a:spcPts val="0"/>
              </a:spcAft>
            </a:pPr>
            <a:r>
              <a:rPr sz="1500" b="1" i="0">
                <a:solidFill>
                  <a:srgbClr val="141E41"/>
                </a:solidFill>
                <a:latin typeface="Arial"/>
              </a:rPr>
              <a:t>0.9×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534800" y="27143745"/>
            <a:ext cx="6451200" cy="90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7534800" y="27201345"/>
            <a:ext cx="5031936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00" b="0" i="0">
                <a:solidFill>
                  <a:srgbClr val="12162E"/>
                </a:solidFill>
                <a:latin typeface="Arial"/>
              </a:rPr>
              <a:t>ran out of budget, unfinished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2566736" y="27201345"/>
            <a:ext cx="1419264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2000"/>
              </a:lnSpc>
              <a:spcAft>
                <a:spcPts val="0"/>
              </a:spcAft>
            </a:pPr>
            <a:r>
              <a:rPr sz="1500" b="1" i="0">
                <a:solidFill>
                  <a:srgbClr val="141E41"/>
                </a:solidFill>
                <a:latin typeface="Arial"/>
              </a:rPr>
              <a:t>0.9×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34800" y="27388545"/>
            <a:ext cx="6451200" cy="9000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534800" y="27518145"/>
            <a:ext cx="6451200" cy="5102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1" i="0">
                <a:solidFill>
                  <a:srgbClr val="12162E"/>
                </a:solidFill>
                <a:latin typeface="Arial"/>
              </a:rPr>
              <a:t>One side dies of something you can name. The other simply never arrives.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8800" y="19495597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43923" y="19452397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CHOOSING WELL IS HARDER THAN IT LOOKS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338800" y="19813433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5508436" y="19823604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60"/>
          <p:cNvSpPr/>
          <p:nvPr/>
        </p:nvSpPr>
        <p:spPr>
          <a:xfrm>
            <a:off x="14467824" y="20035597"/>
            <a:ext cx="6193152" cy="4586924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14467824" y="20035597"/>
            <a:ext cx="6193152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3" name="Picture 162" descr="fig_f13_dominance_plan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575824" y="20193997"/>
            <a:ext cx="5977152" cy="4320525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14338800" y="24694521"/>
            <a:ext cx="6451200" cy="51023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Each policy against always using the cheapest view. A win lands in the shaded region — none does.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4338800" y="25384756"/>
            <a:ext cx="6451200" cy="6080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53"/>
              </a:spcAft>
            </a:pPr>
            <a:r>
              <a:rPr sz="1900" b="0" i="0">
                <a:solidFill>
                  <a:srgbClr val="12162E"/>
                </a:solidFill>
                <a:latin typeface="Arial"/>
              </a:rPr>
              <a:t>And the target is small: running </a:t>
            </a:r>
            <a:r>
              <a:rPr sz="1900" b="1" i="0">
                <a:solidFill>
                  <a:srgbClr val="12162E"/>
                </a:solidFill>
                <a:latin typeface="Arial"/>
              </a:rPr>
              <a:t>one unchanged view twice</a:t>
            </a:r>
            <a:r>
              <a:rPr sz="1900" b="0" i="0">
                <a:solidFill>
                  <a:srgbClr val="12162E"/>
                </a:solidFill>
                <a:latin typeface="Arial"/>
              </a:rPr>
              <a:t> already flips </a:t>
            </a:r>
            <a:r>
              <a:rPr sz="1900" b="1" i="0">
                <a:solidFill>
                  <a:srgbClr val="12162E"/>
                </a:solidFill>
                <a:latin typeface="Arial"/>
              </a:rPr>
              <a:t>10–14%</a:t>
            </a:r>
            <a:r>
              <a:rPr sz="1900" b="0" i="0">
                <a:solidFill>
                  <a:srgbClr val="12162E"/>
                </a:solidFill>
                <a:latin typeface="Arial"/>
              </a:rPr>
              <a:t> of tasks.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8800" y="26208832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43923" y="26165632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SO WHAT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338800" y="26526668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5508436" y="26536839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14338800" y="26748832"/>
            <a:ext cx="6451200" cy="1273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53"/>
              </a:spcAft>
            </a:pPr>
            <a:r>
              <a:rPr sz="1900" b="0" i="0">
                <a:solidFill>
                  <a:srgbClr val="12162E"/>
                </a:solidFill>
                <a:latin typeface="Arial"/>
              </a:rPr>
              <a:t>The views are worth choosing between — they solve different tasks, move differently and fail differently.</a:t>
            </a:r>
          </a:p>
          <a:p>
            <a:pPr algn="l">
              <a:lnSpc>
                <a:spcPct val="105000"/>
              </a:lnSpc>
              <a:spcAft>
                <a:spcPts val="453"/>
              </a:spcAft>
            </a:pPr>
            <a:r>
              <a:rPr sz="1900" b="1" i="0">
                <a:solidFill>
                  <a:srgbClr val="12162E"/>
                </a:solidFill>
                <a:latin typeface="Arial"/>
              </a:rPr>
              <a:t>Choosing well, in advance, is the part that does not work yet.</a:t>
            </a:r>
          </a:p>
        </p:txBody>
      </p:sp>
      <p:pic>
        <p:nvPicPr>
          <p:cNvPr id="167" name="Picture 166" descr="qr_repo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9590657" y="28781728"/>
            <a:ext cx="1127343" cy="11273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141</Words>
  <Application>Microsoft Macintosh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Consolas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Zekun Wu</cp:lastModifiedBy>
  <cp:revision>5</cp:revision>
  <dcterms:created xsi:type="dcterms:W3CDTF">2013-01-27T09:14:16Z</dcterms:created>
  <dcterms:modified xsi:type="dcterms:W3CDTF">2026-08-29T21:12:10Z</dcterms:modified>
  <cp:category/>
</cp:coreProperties>
</file>