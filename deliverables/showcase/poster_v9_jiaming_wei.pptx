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0"/>
    <p:restoredTop sz="94650"/>
  </p:normalViewPr>
  <p:slideViewPr>
    <p:cSldViewPr snapToGrid="0" snapToObjects="1">
      <p:cViewPr>
        <p:scale>
          <a:sx n="55" d="100"/>
          <a:sy n="55" d="100"/>
        </p:scale>
        <p:origin x="1320" y="-49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1180624"/>
            <a:ext cx="21384000" cy="2909459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_m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21384000" cy="4634784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21384000" cy="152561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hai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779" y="595805"/>
            <a:ext cx="1827193" cy="1169636"/>
          </a:xfrm>
          <a:prstGeom prst="rect">
            <a:avLst/>
          </a:prstGeom>
        </p:spPr>
      </p:pic>
      <p:pic>
        <p:nvPicPr>
          <p:cNvPr id="6" name="Picture 5" descr="cdi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64374" y="443244"/>
            <a:ext cx="1925207" cy="14747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135215" y="360000"/>
            <a:ext cx="15526985" cy="1440000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algn="ctr">
              <a:lnSpc>
                <a:spcPct val="106000"/>
              </a:lnSpc>
            </a:pPr>
            <a:r>
              <a:rPr sz="4400" b="0" i="0">
                <a:solidFill>
                  <a:srgbClr val="FFFFFF"/>
                </a:solidFill>
                <a:latin typeface="Georgia"/>
              </a:rPr>
              <a:t>When Is Expensive Perception Worth Paying For?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7779" y="2129501"/>
            <a:ext cx="20061802" cy="4576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i="0">
                <a:solidFill>
                  <a:srgbClr val="FFFFFF"/>
                </a:solidFill>
                <a:latin typeface="Arial"/>
              </a:rPr>
              <a:t>Jiaming Wei          Supervisors: Prof. María Pérez-Ortiz  ·  Zekun Wu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911" y="2569652"/>
            <a:ext cx="20061802" cy="4068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0" i="0">
                <a:solidFill>
                  <a:srgbClr val="C9C6FF"/>
                </a:solidFill>
                <a:latin typeface="Arial"/>
              </a:rPr>
              <a:t>UCL Centre for Artificial Intelligence          Holistic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7779" y="3308278"/>
            <a:ext cx="20061802" cy="1078916"/>
          </a:xfrm>
          <a:prstGeom prst="rect">
            <a:avLst/>
          </a:prstGeom>
          <a:gradFill rotWithShape="1">
            <a:gsLst>
              <a:gs pos="0">
                <a:srgbClr val="141E41"/>
              </a:gs>
              <a:gs pos="100000">
                <a:srgbClr val="3F3AC4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27779" y="3308277"/>
            <a:ext cx="238442" cy="107891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490585" y="3363957"/>
            <a:ext cx="18536190" cy="92769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0" i="0">
                <a:solidFill>
                  <a:srgbClr val="FFFFFF"/>
                </a:solidFill>
                <a:latin typeface="Georgia"/>
              </a:rPr>
              <a:t>Testing when richer web-agent representations help — and whether their value can be predicted cheaply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-375" y="28403797"/>
            <a:ext cx="21384000" cy="1881588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-375" y="28403797"/>
            <a:ext cx="21384000" cy="101707"/>
          </a:xfrm>
          <a:prstGeom prst="rect">
            <a:avLst/>
          </a:prstGeom>
          <a:gradFill rotWithShape="1">
            <a:gsLst>
              <a:gs pos="0">
                <a:srgbClr val="5049F9"/>
              </a:gs>
              <a:gs pos="54000">
                <a:srgbClr val="AB5FCE"/>
              </a:gs>
              <a:gs pos="100000">
                <a:srgbClr val="36B1FE"/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TextBox 71"/>
          <p:cNvSpPr txBox="1"/>
          <p:nvPr/>
        </p:nvSpPr>
        <p:spPr>
          <a:xfrm>
            <a:off x="727200" y="29119390"/>
            <a:ext cx="12438317" cy="101707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jiaming.wei.25@ucl.ac.uk</a:t>
            </a:r>
          </a:p>
          <a:p>
            <a:pPr>
              <a:lnSpc>
                <a:spcPct val="145000"/>
              </a:lnSpc>
            </a:pPr>
            <a:r>
              <a:rPr sz="1483" b="0" i="0">
                <a:solidFill>
                  <a:srgbClr val="FFFFFF"/>
                </a:solidFill>
                <a:latin typeface="Arial"/>
              </a:rPr>
              <a:t>Paper, code &amp; full results: github.com/Quarkgluonmixture/Cost-Aware-Routing-for-Web-Usage-Agents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99552" y="29383118"/>
            <a:ext cx="4831105" cy="3559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988" b="0" spc="100">
                <a:solidFill>
                  <a:srgbClr val="8892B0"/>
                </a:solidFill>
                <a:latin typeface="Consolas"/>
              </a:rPr>
              <a:t>Holistic AI × UCL CDI · 16 September 2026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4399552" y="29140955"/>
            <a:ext cx="4831105" cy="40682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8000"/>
              </a:lnSpc>
            </a:pPr>
            <a:r>
              <a:rPr sz="1200" b="0" i="0">
                <a:solidFill>
                  <a:srgbClr val="5049F9"/>
                </a:solidFill>
                <a:latin typeface="Consolas"/>
              </a:rPr>
              <a:t>Explore all 8 settings 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478800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474480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WHAT AN AGENT SEES, AND WHO CHOOSES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510583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5116007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7" name="Picture 76" descr="syste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9398" y="5328000"/>
            <a:ext cx="18658404" cy="6938038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27200" y="12554038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2510838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THE SAME TASK, SEEN TWO WAYS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2871874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2882045"/>
            <a:ext cx="188931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727200" y="13094038"/>
            <a:ext cx="20062800" cy="29626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0" i="0">
                <a:solidFill>
                  <a:srgbClr val="12162E"/>
                </a:solidFill>
                <a:latin typeface="Arial"/>
              </a:rPr>
              <a:t>“Go to my listing of the blue bike and change the price to $85.50 — and say so in the description.”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7200" y="13498303"/>
            <a:ext cx="86400" cy="2503275"/>
          </a:xfrm>
          <a:prstGeom prst="rect">
            <a:avLst/>
          </a:prstGeom>
          <a:solidFill>
            <a:srgbClr val="E87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07200" y="13534303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E8720C"/>
                </a:solidFill>
                <a:latin typeface="Consolas"/>
              </a:rPr>
              <a:t>READ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7200" y="13930303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page text only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7200" y="14506303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12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8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14855F"/>
                </a:solidFill>
                <a:latin typeface="Arial"/>
              </a:rPr>
              <a:t>$0.09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07200" y="15190303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14855F"/>
                </a:solidFill>
                <a:latin typeface="Arial"/>
              </a:rPr>
              <a:t>solved</a:t>
            </a:r>
          </a:p>
        </p:txBody>
      </p:sp>
      <p:pic>
        <p:nvPicPr>
          <p:cNvPr id="84" name="Picture 83" descr="lane_read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83200" y="13498303"/>
            <a:ext cx="6027600" cy="1963275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2383200" y="13498303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383200" y="15515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4 · type →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383200" y="15749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$0.020 spent</a:t>
            </a:r>
          </a:p>
        </p:txBody>
      </p:sp>
      <p:pic>
        <p:nvPicPr>
          <p:cNvPr id="88" name="Picture 87" descr="lane_read_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54800" y="13498303"/>
            <a:ext cx="6027600" cy="1963275"/>
          </a:xfrm>
          <a:prstGeom prst="rect">
            <a:avLst/>
          </a:prstGeom>
        </p:spPr>
      </p:pic>
      <p:sp>
        <p:nvSpPr>
          <p:cNvPr id="89" name="Rectangle 88"/>
          <p:cNvSpPr/>
          <p:nvPr/>
        </p:nvSpPr>
        <p:spPr>
          <a:xfrm>
            <a:off x="8554800" y="13498303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554800" y="15515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8 · type →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554800" y="15749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$0.050 spent</a:t>
            </a:r>
          </a:p>
        </p:txBody>
      </p:sp>
      <p:pic>
        <p:nvPicPr>
          <p:cNvPr id="92" name="Picture 91" descr="lane_read_2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726400" y="13498303"/>
            <a:ext cx="6027600" cy="1963275"/>
          </a:xfrm>
          <a:prstGeom prst="rect">
            <a:avLst/>
          </a:prstGeom>
        </p:spPr>
      </p:pic>
      <p:sp>
        <p:nvSpPr>
          <p:cNvPr id="93" name="Rectangle 92"/>
          <p:cNvSpPr/>
          <p:nvPr/>
        </p:nvSpPr>
        <p:spPr>
          <a:xfrm>
            <a:off x="14726400" y="13498303"/>
            <a:ext cx="6027600" cy="1963275"/>
          </a:xfrm>
          <a:prstGeom prst="rect">
            <a:avLst/>
          </a:prstGeom>
          <a:noFill/>
          <a:ln w="27940">
            <a:solidFill>
              <a:srgbClr val="1485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4726400" y="15515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10 · click →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4726400" y="15749578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$0.086 spent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27200" y="16037578"/>
            <a:ext cx="86400" cy="2503275"/>
          </a:xfrm>
          <a:prstGeom prst="rect">
            <a:avLst/>
          </a:prstGeom>
          <a:solidFill>
            <a:srgbClr val="1F5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07200" y="16073578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400" b="1" i="0">
                <a:solidFill>
                  <a:srgbClr val="1F5FD6"/>
                </a:solidFill>
                <a:latin typeface="Consolas"/>
              </a:rPr>
              <a:t>LOOK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07200" y="16469578"/>
            <a:ext cx="1440000" cy="50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 i="0">
                <a:solidFill>
                  <a:srgbClr val="5D6787"/>
                </a:solidFill>
                <a:latin typeface="Arial"/>
              </a:rPr>
              <a:t>screenshot only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07200" y="17045578"/>
            <a:ext cx="1440000" cy="64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26 steps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9 pages seen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50" b="1" i="0">
                <a:solidFill>
                  <a:srgbClr val="C2352B"/>
                </a:solidFill>
                <a:latin typeface="Arial"/>
              </a:rPr>
              <a:t>$0.10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7200" y="17729578"/>
            <a:ext cx="1440000" cy="360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2000" b="1" i="0">
                <a:solidFill>
                  <a:srgbClr val="C2352B"/>
                </a:solidFill>
                <a:latin typeface="Arial"/>
              </a:rPr>
              <a:t>gave up</a:t>
            </a:r>
          </a:p>
        </p:txBody>
      </p:sp>
      <p:pic>
        <p:nvPicPr>
          <p:cNvPr id="101" name="Picture 100" descr="lane_look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383200" y="16037578"/>
            <a:ext cx="6027600" cy="1963275"/>
          </a:xfrm>
          <a:prstGeom prst="rect">
            <a:avLst/>
          </a:prstGeom>
        </p:spPr>
      </p:pic>
      <p:sp>
        <p:nvSpPr>
          <p:cNvPr id="102" name="Rectangle 101"/>
          <p:cNvSpPr/>
          <p:nvPr/>
        </p:nvSpPr>
        <p:spPr>
          <a:xfrm>
            <a:off x="2383200" y="16037578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2383200" y="18054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2 · click →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2383200" y="18288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5D6787"/>
                </a:solidFill>
                <a:latin typeface="Arial"/>
              </a:rPr>
              <a:t>$0.011 spent</a:t>
            </a:r>
          </a:p>
        </p:txBody>
      </p:sp>
      <p:pic>
        <p:nvPicPr>
          <p:cNvPr id="105" name="Picture 104" descr="lane_look_1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554800" y="16037578"/>
            <a:ext cx="6027600" cy="1963275"/>
          </a:xfrm>
          <a:prstGeom prst="rect">
            <a:avLst/>
          </a:prstGeom>
        </p:spPr>
      </p:pic>
      <p:sp>
        <p:nvSpPr>
          <p:cNvPr id="106" name="Rectangle 105"/>
          <p:cNvSpPr/>
          <p:nvPr/>
        </p:nvSpPr>
        <p:spPr>
          <a:xfrm>
            <a:off x="8554800" y="16037578"/>
            <a:ext cx="6027600" cy="1963275"/>
          </a:xfrm>
          <a:prstGeom prst="rect">
            <a:avLst/>
          </a:prstGeom>
          <a:noFill/>
          <a:ln w="8890">
            <a:solidFill>
              <a:srgbClr val="C9CF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554800" y="18054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17 · click →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554800" y="18288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$0.071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left the form</a:t>
            </a:r>
          </a:p>
        </p:txBody>
      </p:sp>
      <p:pic>
        <p:nvPicPr>
          <p:cNvPr id="109" name="Picture 108" descr="lane_look_0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726400" y="16037578"/>
            <a:ext cx="6027600" cy="1963275"/>
          </a:xfrm>
          <a:prstGeom prst="rect">
            <a:avLst/>
          </a:prstGeom>
        </p:spPr>
      </p:pic>
      <p:sp>
        <p:nvSpPr>
          <p:cNvPr id="110" name="Rectangle 109"/>
          <p:cNvSpPr/>
          <p:nvPr/>
        </p:nvSpPr>
        <p:spPr>
          <a:xfrm>
            <a:off x="14726400" y="16037578"/>
            <a:ext cx="6027600" cy="1963275"/>
          </a:xfrm>
          <a:prstGeom prst="rect">
            <a:avLst/>
          </a:prstGeom>
          <a:noFill/>
          <a:ln w="27940">
            <a:solidFill>
              <a:srgbClr val="C235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14726400" y="18054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550" b="1" i="0">
                <a:solidFill>
                  <a:srgbClr val="141E41"/>
                </a:solidFill>
                <a:latin typeface="Arial"/>
              </a:rPr>
              <a:t>step 19 · click →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4726400" y="18288853"/>
            <a:ext cx="6063600" cy="25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1400" b="0" i="0">
                <a:solidFill>
                  <a:srgbClr val="C2352B"/>
                </a:solidFill>
                <a:latin typeface="Arial"/>
              </a:rPr>
              <a:t>$0.079 · </a:t>
            </a:r>
            <a:r>
              <a:rPr sz="1400" b="1" i="0">
                <a:solidFill>
                  <a:srgbClr val="C2352B"/>
                </a:solidFill>
                <a:latin typeface="Arial"/>
              </a:rPr>
              <a:t>back on frame 1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727200" y="18504853"/>
            <a:ext cx="20062800" cy="25511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1" i="0">
                <a:solidFill>
                  <a:srgbClr val="12162E"/>
                </a:solidFill>
                <a:latin typeface="Arial"/>
              </a:rPr>
              <a:t>Same start. READ finishes; LOOK loops back.</a:t>
            </a:r>
            <a:r>
              <a:rPr sz="1550" b="0" i="0">
                <a:solidFill>
                  <a:srgbClr val="12162E"/>
                </a:solidFill>
                <a:latin typeface="Arial"/>
              </a:rPr>
              <a:t> Both outcomes repeat on an independent rerun.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1897597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1893277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1 · SIX VIEWS, EIGHT SETTINGS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1929380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1930397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/>
          <p:nvPr/>
        </p:nvSpPr>
        <p:spPr>
          <a:xfrm>
            <a:off x="1962605" y="19515970"/>
            <a:ext cx="3980390" cy="3242239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962605" y="19515970"/>
            <a:ext cx="398039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6" name="Picture 115" descr="fig_f5_design_matrix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034605" y="19638370"/>
            <a:ext cx="3836390" cy="304784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7534800" y="1897597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1893277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2 · THEY SOLVE DIFFERENT TASKS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1929380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1930397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/>
          <p:nvPr/>
        </p:nvSpPr>
        <p:spPr>
          <a:xfrm>
            <a:off x="7860586" y="19515970"/>
            <a:ext cx="5799628" cy="3284089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7860586" y="19515970"/>
            <a:ext cx="5799628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9" name="Picture 118" descr="venn_b0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32586" y="19638370"/>
            <a:ext cx="5655628" cy="3089689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7534800" y="22872059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The sets overlap — but do not coincide.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18975970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18932770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3 · THEY BEHAVE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19293806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19303977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/>
          <p:nvPr/>
        </p:nvSpPr>
        <p:spPr>
          <a:xfrm>
            <a:off x="14338800" y="19515970"/>
            <a:ext cx="6451200" cy="3307638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4338800" y="19515970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3" name="Picture 122" descr="behaviour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4410800" y="19638370"/>
            <a:ext cx="6307200" cy="3113238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14338800" y="22895608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Vision scrolls ~4× more.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7200" y="23571414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32323" y="23528214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4 · AND THEY FAIL DIFFERENTLY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27200" y="23889250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896836" y="23899421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Rectangle 124"/>
          <p:cNvSpPr/>
          <p:nvPr/>
        </p:nvSpPr>
        <p:spPr>
          <a:xfrm>
            <a:off x="727200" y="24111414"/>
            <a:ext cx="6451200" cy="2974935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727200" y="24111414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7" name="Picture 126" descr="failure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99200" y="24233814"/>
            <a:ext cx="6307200" cy="2780536"/>
          </a:xfrm>
          <a:prstGeom prst="rect">
            <a:avLst/>
          </a:prstGeom>
        </p:spPr>
      </p:pic>
      <p:sp>
        <p:nvSpPr>
          <p:cNvPr id="128" name="TextBox 127"/>
          <p:cNvSpPr txBox="1"/>
          <p:nvPr/>
        </p:nvSpPr>
        <p:spPr>
          <a:xfrm>
            <a:off x="727200" y="27158349"/>
            <a:ext cx="6451200" cy="5596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Text-only skews toward early give-up; image-only toward stalled progress.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34800" y="23571414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839923" y="23528214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5 · SO BUILD A ROUTER? NOT SO FAST.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534800" y="23889250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704436" y="23899421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ectangle 128"/>
          <p:cNvSpPr/>
          <p:nvPr/>
        </p:nvSpPr>
        <p:spPr>
          <a:xfrm>
            <a:off x="7618666" y="24111414"/>
            <a:ext cx="6283468" cy="3003545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7618666" y="24111414"/>
            <a:ext cx="6283468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1" name="Picture 130" descr="routing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90666" y="24233814"/>
            <a:ext cx="6139468" cy="2809145"/>
          </a:xfrm>
          <a:prstGeom prst="rect">
            <a:avLst/>
          </a:prstGeom>
        </p:spPr>
      </p:pic>
      <p:sp>
        <p:nvSpPr>
          <p:cNvPr id="132" name="TextBox 131"/>
          <p:cNvSpPr txBox="1"/>
          <p:nvPr/>
        </p:nvSpPr>
        <p:spPr>
          <a:xfrm>
            <a:off x="7534800" y="27186959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Only the hindsight oracle enters the win region.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4338800" y="23571414"/>
            <a:ext cx="177988" cy="177988"/>
          </a:xfrm>
          <a:prstGeom prst="rect">
            <a:avLst/>
          </a:prstGeom>
          <a:solidFill>
            <a:srgbClr val="AB5F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4643923" y="23528214"/>
            <a:ext cx="6144827" cy="2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750" b="1" i="0">
                <a:solidFill>
                  <a:srgbClr val="141E41"/>
                </a:solidFill>
                <a:latin typeface="Consolas"/>
              </a:rPr>
              <a:t>6 · AND THIS IS WHY</a:t>
            </a:r>
            <a:endParaRPr sz="1412" b="1" spc="180" dirty="0">
              <a:solidFill>
                <a:srgbClr val="141E41"/>
              </a:solidFill>
              <a:latin typeface="Consola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4338800" y="23889250"/>
            <a:ext cx="1169636" cy="35597"/>
          </a:xfrm>
          <a:prstGeom prst="rect">
            <a:avLst/>
          </a:prstGeom>
          <a:solidFill>
            <a:srgbClr val="141E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5508436" y="23899421"/>
            <a:ext cx="5281564" cy="15256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Rectangle 132"/>
          <p:cNvSpPr/>
          <p:nvPr/>
        </p:nvSpPr>
        <p:spPr>
          <a:xfrm>
            <a:off x="14338800" y="24111414"/>
            <a:ext cx="6451200" cy="3006817"/>
          </a:xfrm>
          <a:prstGeom prst="rect">
            <a:avLst/>
          </a:prstGeom>
          <a:solidFill>
            <a:srgbClr val="F7F9FD"/>
          </a:solidFill>
          <a:ln w="8890">
            <a:solidFill>
              <a:srgbClr val="DDE3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4338800" y="24111414"/>
            <a:ext cx="6451200" cy="50400"/>
          </a:xfrm>
          <a:prstGeom prst="rect">
            <a:avLst/>
          </a:prstGeom>
          <a:solidFill>
            <a:srgbClr val="5049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5" name="Picture 134" descr="label_supply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410800" y="24233814"/>
            <a:ext cx="6307200" cy="2812417"/>
          </a:xfrm>
          <a:prstGeom prst="rect">
            <a:avLst/>
          </a:prstGeom>
        </p:spPr>
      </p:pic>
      <p:sp>
        <p:nvSpPr>
          <p:cNvPr id="136" name="TextBox 135"/>
          <p:cNvSpPr txBox="1"/>
          <p:nvPr/>
        </p:nvSpPr>
        <p:spPr>
          <a:xfrm>
            <a:off x="14338800" y="27190231"/>
            <a:ext cx="6451200" cy="2798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 i="0">
                <a:solidFill>
                  <a:srgbClr val="12162E"/>
                </a:solidFill>
                <a:latin typeface="Arial"/>
              </a:rPr>
              <a:t>More routing upside, less usable training signal.</a:t>
            </a:r>
          </a:p>
        </p:txBody>
      </p:sp>
      <p:pic>
        <p:nvPicPr>
          <p:cNvPr id="137" name="Picture 136" descr="qr_repo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9590657" y="28781728"/>
            <a:ext cx="1127343" cy="1127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141</Words>
  <Application>Microsoft Macintosh PowerPoint</Application>
  <PresentationFormat>Custom</PresentationFormat>
  <Paragraphs>22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Consolas</vt:lpstr>
      <vt:lpstr>Georgia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Zekun Wu</cp:lastModifiedBy>
  <cp:revision>5</cp:revision>
  <dcterms:created xsi:type="dcterms:W3CDTF">2013-01-27T09:14:16Z</dcterms:created>
  <dcterms:modified xsi:type="dcterms:W3CDTF">2026-08-29T21:12:10Z</dcterms:modified>
  <cp:category/>
</cp:coreProperties>
</file>