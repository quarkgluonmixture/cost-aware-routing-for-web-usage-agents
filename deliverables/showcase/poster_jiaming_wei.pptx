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288000"/>
            <a:ext cx="15526985" cy="1656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Look, read, or both?</a:t>
            </a:r>
          </a:p>
          <a:p>
            <a:pPr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Today's web agents can't yet learn how to see a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0" i="0">
                <a:solidFill>
                  <a:srgbClr val="FFFFFF"/>
                </a:solidFill>
                <a:latin typeface="Georgia"/>
              </a:rPr>
              <a:t>Perfect hindsight would solve up to 16 more tasks in 100 than the best single view. None of 8 learned choices beat always using the cheapest view on both success and cost.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52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08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AGENT LOOP, AND WHERE THE DECISION SITS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069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080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ight Arrow 76"/>
          <p:cNvSpPr/>
          <p:nvPr/>
        </p:nvSpPr>
        <p:spPr>
          <a:xfrm>
            <a:off x="3823200" y="7560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ight Arrow 77"/>
          <p:cNvSpPr/>
          <p:nvPr/>
        </p:nvSpPr>
        <p:spPr>
          <a:xfrm>
            <a:off x="8215200" y="7560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ight Arrow 78"/>
          <p:cNvSpPr/>
          <p:nvPr/>
        </p:nvSpPr>
        <p:spPr>
          <a:xfrm>
            <a:off x="14119200" y="7560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ight Arrow 79"/>
          <p:cNvSpPr/>
          <p:nvPr/>
        </p:nvSpPr>
        <p:spPr>
          <a:xfrm>
            <a:off x="17503200" y="7560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27200" y="5292000"/>
            <a:ext cx="30240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7200" y="5292000"/>
            <a:ext cx="3024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7200" y="5436000"/>
            <a:ext cx="266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Consolas"/>
              </a:rPr>
              <a:t>THE TASK + THE PAGE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7200" y="5724000"/>
            <a:ext cx="2664000" cy="1787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0" i="0">
                <a:solidFill>
                  <a:srgbClr val="12162E"/>
                </a:solidFill>
                <a:latin typeface="Arial"/>
              </a:rPr>
              <a:t>“Show me the cheapest bike with red handlebars between $900–950.”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7200" y="7619652"/>
            <a:ext cx="2664000" cy="9381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1900" b="0" i="0">
                <a:solidFill>
                  <a:srgbClr val="5D6787"/>
                </a:solidFill>
                <a:latin typeface="Arial"/>
              </a:rPr>
              <a:t>Part of the intent is in the pictures, part in the text.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2800" y="8687426"/>
            <a:ext cx="2692800" cy="15189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7" name="Picture 86" descr="eye_l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00" y="8701826"/>
            <a:ext cx="2664000" cy="1490175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255200" y="5292000"/>
            <a:ext cx="38880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5049F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435200" y="5436000"/>
            <a:ext cx="3528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0" i="0">
                <a:solidFill>
                  <a:srgbClr val="5049F9"/>
                </a:solidFill>
                <a:latin typeface="Consolas"/>
              </a:rPr>
              <a:t>WHO DECIDES HOW TO SEE IT?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35200" y="5724000"/>
            <a:ext cx="3528000" cy="12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9200" y="5850000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300" b="1" i="0">
                <a:solidFill>
                  <a:srgbClr val="141E41"/>
                </a:solidFill>
                <a:latin typeface="Arial"/>
              </a:rPr>
              <a:t>One fixed view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9200" y="6246000"/>
            <a:ext cx="32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 i="0">
                <a:solidFill>
                  <a:srgbClr val="5D6787"/>
                </a:solidFill>
                <a:latin typeface="Arial"/>
              </a:rPr>
              <a:t>the same view on every task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35200" y="7128000"/>
            <a:ext cx="3528000" cy="12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9200" y="7254000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300" b="1" i="0">
                <a:solidFill>
                  <a:srgbClr val="141E41"/>
                </a:solidFill>
                <a:latin typeface="Arial"/>
              </a:rPr>
              <a:t>Perfect hindsight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9200" y="7650000"/>
            <a:ext cx="32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 i="0">
                <a:solidFill>
                  <a:srgbClr val="5D6787"/>
                </a:solidFill>
                <a:latin typeface="Arial"/>
              </a:rPr>
              <a:t>afterwards: which view solved it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435200" y="8532000"/>
            <a:ext cx="3528000" cy="12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9200" y="8658000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300" b="1" i="0">
                <a:solidFill>
                  <a:srgbClr val="141E41"/>
                </a:solidFill>
                <a:latin typeface="Arial"/>
              </a:rPr>
              <a:t>A learned choice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9200" y="9054000"/>
            <a:ext cx="32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 i="0">
                <a:solidFill>
                  <a:srgbClr val="5D6787"/>
                </a:solidFill>
                <a:latin typeface="Arial"/>
              </a:rPr>
              <a:t>beforehand: predicted from the page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35200" y="99720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0" i="0">
                <a:solidFill>
                  <a:srgbClr val="5049F9"/>
                </a:solidFill>
                <a:latin typeface="Consolas"/>
              </a:rPr>
              <a:t>this box is what we measure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47200" y="5292000"/>
            <a:ext cx="5400000" cy="158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47200" y="5292000"/>
            <a:ext cx="5400000" cy="5040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27200" y="5436000"/>
            <a:ext cx="936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6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799200" y="5526000"/>
            <a:ext cx="1548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800" b="0" i="0">
                <a:solidFill>
                  <a:srgbClr val="5D6787"/>
                </a:solidFill>
                <a:latin typeface="Arial"/>
              </a:rPr>
              <a:t>3,123 tokens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27200" y="5868000"/>
            <a:ext cx="252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41E41"/>
                </a:solidFill>
                <a:latin typeface="Arial"/>
              </a:rPr>
              <a:t>screenshot only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76800" y="5421600"/>
            <a:ext cx="2404800" cy="13578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eye_l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91200" y="5436000"/>
            <a:ext cx="2376000" cy="1329075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8647200" y="7020000"/>
            <a:ext cx="5400000" cy="158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647200" y="7020000"/>
            <a:ext cx="5400000" cy="504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27200" y="7164000"/>
            <a:ext cx="936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6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799200" y="7254000"/>
            <a:ext cx="1548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800" b="0" i="0">
                <a:solidFill>
                  <a:srgbClr val="5D6787"/>
                </a:solidFill>
                <a:latin typeface="Arial"/>
              </a:rPr>
              <a:t>3,314 tokens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27200" y="7596000"/>
            <a:ext cx="252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41E41"/>
                </a:solidFill>
                <a:latin typeface="Arial"/>
              </a:rPr>
              <a:t>page elements and labels as text, plus 3 more text-only views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1491200" y="7164000"/>
            <a:ext cx="2376000" cy="1328400"/>
          </a:xfrm>
          <a:prstGeom prst="rect">
            <a:avLst/>
          </a:prstGeom>
          <a:solidFill>
            <a:srgbClr val="FFFFFF"/>
          </a:solidFill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563200" y="7236000"/>
            <a:ext cx="2232000" cy="11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2162E"/>
                </a:solidFill>
                <a:latin typeface="Consolas"/>
              </a:rPr>
              <a:t>[2] RootWebArea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2162E"/>
                </a:solidFill>
                <a:latin typeface="Consolas"/>
              </a:rPr>
              <a:t>[89] link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2162E"/>
                </a:solidFill>
                <a:latin typeface="Consolas"/>
              </a:rPr>
              <a:t>[90] image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2162E"/>
                </a:solidFill>
                <a:latin typeface="Consolas"/>
              </a:rPr>
              <a:t>[115] link 'My account'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2162E"/>
                </a:solidFill>
                <a:latin typeface="Consolas"/>
              </a:rPr>
              <a:t>[5] link 'Logout'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2162E"/>
                </a:solidFill>
                <a:latin typeface="Consolas"/>
              </a:rPr>
              <a:t>[118] link 'Publish Ad'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647200" y="8748000"/>
            <a:ext cx="5400000" cy="158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647200" y="8748000"/>
            <a:ext cx="5400000" cy="504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827200" y="8892000"/>
            <a:ext cx="936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600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799200" y="8982000"/>
            <a:ext cx="1548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800" b="0" i="0">
                <a:solidFill>
                  <a:srgbClr val="5D6787"/>
                </a:solidFill>
                <a:latin typeface="Arial"/>
              </a:rPr>
              <a:t>4,335 tokens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827200" y="9324000"/>
            <a:ext cx="252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41E41"/>
                </a:solidFill>
                <a:latin typeface="Arial"/>
              </a:rPr>
              <a:t>numbered screenshot + page text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476800" y="8877600"/>
            <a:ext cx="2404800" cy="13578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0" name="Picture 119" descr="eye_bo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1200" y="8892000"/>
            <a:ext cx="2376000" cy="1329075"/>
          </a:xfrm>
          <a:prstGeom prst="rect">
            <a:avLst/>
          </a:prstGeom>
        </p:spPr>
      </p:pic>
      <p:sp>
        <p:nvSpPr>
          <p:cNvPr id="121" name="Rectangle 120"/>
          <p:cNvSpPr/>
          <p:nvPr/>
        </p:nvSpPr>
        <p:spPr>
          <a:xfrm>
            <a:off x="14551200" y="5292000"/>
            <a:ext cx="28800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551200" y="5292000"/>
            <a:ext cx="2880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731200" y="5436000"/>
            <a:ext cx="2520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Consolas"/>
              </a:rPr>
              <a:t>THE AGENT · EACH STEP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731200" y="5724000"/>
            <a:ext cx="2520000" cy="450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900" b="1" i="0">
                <a:solidFill>
                  <a:srgbClr val="12162E"/>
                </a:solidFill>
                <a:latin typeface="Arial"/>
              </a:rPr>
              <a:t>think → act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731200" y="6282799"/>
            <a:ext cx="2520000" cy="7900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2400" b="0" i="0">
                <a:solidFill>
                  <a:srgbClr val="5D6787"/>
                </a:solidFill>
                <a:latin typeface="Arial"/>
              </a:rPr>
              <a:t>click · type · scroll · go back · finish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731200" y="7288840"/>
            <a:ext cx="2520000" cy="23701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2400" b="0" i="0">
                <a:solidFill>
                  <a:srgbClr val="12162E"/>
                </a:solidFill>
                <a:latin typeface="Arial"/>
              </a:rPr>
              <a:t>Only the page view changes; model, prompt, step budget and cost accounting stay fixed.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7935200" y="5292000"/>
            <a:ext cx="28548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7935200" y="5292000"/>
            <a:ext cx="28548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8115200" y="5436000"/>
            <a:ext cx="24948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Consolas"/>
              </a:rPr>
              <a:t>WHEN IT STOPS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115200" y="5724000"/>
            <a:ext cx="2494800" cy="794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1" i="0">
                <a:solidFill>
                  <a:srgbClr val="12162E"/>
                </a:solidFill>
                <a:latin typeface="Arial"/>
              </a:rPr>
              <a:t>✓ solved / ✗ not</a:t>
            </a:r>
          </a:p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1" i="0">
                <a:solidFill>
                  <a:srgbClr val="12162E"/>
                </a:solidFill>
                <a:latin typeface="Arial"/>
              </a:rPr>
              <a:t>$ for the attempt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115200" y="6698260"/>
            <a:ext cx="2494800" cy="27651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2400" b="0" i="0">
                <a:solidFill>
                  <a:srgbClr val="5D6787"/>
                </a:solidFill>
                <a:latin typeface="Arial"/>
              </a:rPr>
              <a:t>8 website × model combinations · two public benchmarks · 6 views · 8,934 attempts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5969600" y="10332000"/>
            <a:ext cx="43200" cy="432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239200" y="10742400"/>
            <a:ext cx="13752000" cy="432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217600" y="10476000"/>
            <a:ext cx="43200" cy="288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Isosceles Triangle 134"/>
          <p:cNvSpPr/>
          <p:nvPr/>
        </p:nvSpPr>
        <p:spPr>
          <a:xfrm>
            <a:off x="2131200" y="10332000"/>
            <a:ext cx="216000" cy="162000"/>
          </a:xfrm>
          <a:prstGeom prst="triangle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599200" y="10818000"/>
            <a:ext cx="13032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sz="2000" b="0" i="0">
                <a:solidFill>
                  <a:srgbClr val="5D6787"/>
                </a:solidFill>
                <a:latin typeface="Arial"/>
              </a:rPr>
              <a:t>the action changes the page → next step · up to 30 steps per task · the bill grows with every step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7200" y="11160000"/>
            <a:ext cx="200628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1700" b="1" i="0">
                <a:solidFill>
                  <a:srgbClr val="5D6787"/>
                </a:solidFill>
                <a:latin typeface="Arial"/>
              </a:rPr>
              <a:t>Fig 1.</a:t>
            </a:r>
            <a:r>
              <a:rPr sz="1700" b="0" i="0">
                <a:solidFill>
                  <a:srgbClr val="5D6787"/>
                </a:solidFill>
                <a:latin typeface="Arial"/>
              </a:rPr>
              <a:t> Only the page view changes. The dashed box is what we measure: one fixed view, perfect hindsight, or a learned choice, each judged on </a:t>
            </a:r>
            <a:r>
              <a:rPr sz="1700" b="1" i="0">
                <a:solidFill>
                  <a:srgbClr val="5D6787"/>
                </a:solidFill>
                <a:latin typeface="Arial"/>
              </a:rPr>
              <a:t>both</a:t>
            </a:r>
            <a:r>
              <a:rPr sz="1700" b="0" i="0">
                <a:solidFill>
                  <a:srgbClr val="5D6787"/>
                </a:solidFill>
                <a:latin typeface="Arial"/>
              </a:rPr>
              <a:t> success and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1655806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1612606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RESULTS ACROSS 8,934 TASK ATTEMPTS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1973642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1983813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727200" y="12195806"/>
            <a:ext cx="20062800" cy="1386000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79200" y="12339806"/>
            <a:ext cx="6519600" cy="7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4200" b="1" i="0">
                <a:solidFill>
                  <a:srgbClr val="141E41"/>
                </a:solidFill>
                <a:latin typeface="Consolas"/>
              </a:rPr>
              <a:t>+16.35 in 100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9200" y="13095806"/>
            <a:ext cx="6519600" cy="39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5D6787"/>
                </a:solidFill>
                <a:latin typeface="Consolas"/>
              </a:rPr>
              <a:t>PERFECT HINDSIGHT · SUCCESS ONLY · VS ONE FIXED 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98800" y="12339806"/>
            <a:ext cx="6519600" cy="7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4200" b="1" i="0">
                <a:solidFill>
                  <a:srgbClr val="141E41"/>
                </a:solidFill>
                <a:latin typeface="Consolas"/>
              </a:rPr>
              <a:t>0 of 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98800" y="13095806"/>
            <a:ext cx="6519600" cy="39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5D6787"/>
                </a:solidFill>
                <a:latin typeface="Consolas"/>
              </a:rPr>
              <a:t>LEARNED CHOICES THAT WON ON SUCCESS AND COST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018400" y="12339806"/>
            <a:ext cx="6519600" cy="7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4200" b="1" i="0">
                <a:solidFill>
                  <a:srgbClr val="141E41"/>
                </a:solidFill>
                <a:latin typeface="Consolas"/>
              </a:rPr>
              <a:t>1 of 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018400" y="13095806"/>
            <a:ext cx="6519600" cy="39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5D6787"/>
                </a:solidFill>
                <a:latin typeface="Consolas"/>
              </a:rPr>
              <a:t>HINDSIGHT CHOICES THAT WON ON SUCCESS AND COST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27200" y="13725806"/>
            <a:ext cx="65436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ONE FIXED VIEW</a:t>
            </a:r>
            <a:r>
              <a:rPr sz="1700" b="0" i="0">
                <a:solidFill>
                  <a:srgbClr val="12162E"/>
                </a:solidFill>
                <a:latin typeface="Arial"/>
              </a:rPr>
              <a:t> — the highest-success view in a setting, used for every task.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86800" y="13725806"/>
            <a:ext cx="6543600" cy="8394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ALWAYS-CHEAPEST</a:t>
            </a:r>
            <a:r>
              <a:rPr sz="1700" b="0" i="0">
                <a:solidFill>
                  <a:srgbClr val="12162E"/>
                </a:solidFill>
                <a:latin typeface="Arial"/>
              </a:rPr>
              <a:t> — the lowest-average-cost view in a setting, used for every task.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“Won” = beat it on both success and cost.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246400" y="13725806"/>
            <a:ext cx="6543600" cy="8394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PERFECT HINDSIGHT</a:t>
            </a:r>
            <a:r>
              <a:rPr sz="1700" b="0" i="0">
                <a:solidFill>
                  <a:srgbClr val="12162E"/>
                </a:solidFill>
                <a:latin typeface="Arial"/>
              </a:rPr>
              <a:t> — after each task, select a view that solved it. Optimistic: rerunning one unchanged view flips 10–14% of outcomes and gains 2.0–7.6 tasks in 100 by itself.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27200" y="14781225"/>
            <a:ext cx="6451200" cy="2114121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27200" y="14781225"/>
            <a:ext cx="86400" cy="2114121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43200" y="14961225"/>
            <a:ext cx="60192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0" i="0">
                <a:solidFill>
                  <a:srgbClr val="5049F9"/>
                </a:solidFill>
                <a:latin typeface="Consolas"/>
              </a:rPr>
              <a:t>THE CATCH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43200" y="15249225"/>
            <a:ext cx="6019200" cy="1430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1" i="0">
                <a:solidFill>
                  <a:srgbClr val="12162E"/>
                </a:solidFill>
                <a:latin typeface="Arial"/>
              </a:rPr>
              <a:t>The agents that gain most from choosing a view solve the fewest tasks — so they produce the fewest examples to learn from.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7075346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7032146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WHY LEARNING THE CHOICE FAILS HERE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7393182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7403353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727200" y="17615346"/>
            <a:ext cx="6451200" cy="1787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0" i="0">
                <a:solidFill>
                  <a:srgbClr val="12162E"/>
                </a:solidFill>
                <a:latin typeface="Arial"/>
              </a:rPr>
              <a:t>A “which view?” label exists only after a solved task. The best fixed view solves just </a:t>
            </a:r>
            <a:r>
              <a:rPr sz="2300" b="1" i="0">
                <a:solidFill>
                  <a:srgbClr val="12162E"/>
                </a:solidFill>
                <a:latin typeface="Arial"/>
              </a:rPr>
              <a:t>2–36%</a:t>
            </a:r>
            <a:r>
              <a:rPr sz="2300" b="0" i="0">
                <a:solidFill>
                  <a:srgbClr val="12162E"/>
                </a:solidFill>
                <a:latin typeface="Arial"/>
              </a:rPr>
              <a:t>, leaving </a:t>
            </a:r>
            <a:r>
              <a:rPr sz="2300" b="1" i="0">
                <a:solidFill>
                  <a:srgbClr val="12162E"/>
                </a:solidFill>
                <a:latin typeface="Arial"/>
              </a:rPr>
              <a:t>15–97</a:t>
            </a:r>
            <a:r>
              <a:rPr sz="2300" b="0" i="0">
                <a:solidFill>
                  <a:srgbClr val="12162E"/>
                </a:solidFill>
                <a:latin typeface="Arial"/>
              </a:rPr>
              <a:t> usable labels per setting. Only 2 of 6 VisualWebArena settings have enough to train a classifier.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27200" y="19474998"/>
            <a:ext cx="6451200" cy="3717049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7200" y="19474998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5" name="Picture 154" descr="poster_label_suppl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200" y="19633398"/>
            <a:ext cx="6235200" cy="345064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727200" y="23282047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1700" b="1" i="0">
                <a:solidFill>
                  <a:srgbClr val="5D6787"/>
                </a:solidFill>
                <a:latin typeface="Arial"/>
              </a:rPr>
              <a:t>Fig 3.</a:t>
            </a:r>
            <a:r>
              <a:rPr sz="1700" b="0" i="0">
                <a:solidFill>
                  <a:srgbClr val="5D6787"/>
                </a:solidFill>
                <a:latin typeface="Arial"/>
              </a:rPr>
              <a:t> Usable “which view?” labels against best-fixed-view success, one point per VisualWebArena setting.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27200" y="23949659"/>
            <a:ext cx="6451200" cy="1072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0" i="0">
                <a:solidFill>
                  <a:srgbClr val="12162E"/>
                </a:solidFill>
                <a:latin typeface="Arial"/>
              </a:rPr>
              <a:t>Deliberately shrinking the training data points to scarcity: failing settings need at least </a:t>
            </a:r>
            <a:r>
              <a:rPr sz="2300" b="1" i="0">
                <a:solidFill>
                  <a:srgbClr val="12162E"/>
                </a:solidFill>
                <a:latin typeface="Arial"/>
              </a:rPr>
              <a:t>2.1–4.2×</a:t>
            </a:r>
            <a:r>
              <a:rPr sz="2300" b="0" i="0">
                <a:solidFill>
                  <a:srgbClr val="12162E"/>
                </a:solidFill>
                <a:latin typeface="Arial"/>
              </a:rPr>
              <a:t> more tasks than the benchmarks contain.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516625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512305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TAKEAWAY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548408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549425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27200" y="25706250"/>
            <a:ext cx="6451200" cy="1787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1" i="0">
                <a:solidFill>
                  <a:srgbClr val="12162E"/>
                </a:solidFill>
                <a:latin typeface="Arial"/>
              </a:rPr>
              <a:t>Learning how to see is not only a modelling problem. It depends on how good the agent producing the examples already is.</a:t>
            </a:r>
            <a:r>
              <a:rPr sz="2300" b="0" i="0">
                <a:solidFill>
                  <a:srgbClr val="12162E"/>
                </a:solidFill>
                <a:latin typeface="Arial"/>
              </a:rPr>
              <a:t> Improve the agent, collect reliable examples, then learn when to look.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27200" y="27529902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1700" b="0" i="0">
                <a:solidFill>
                  <a:srgbClr val="5D6787"/>
                </a:solidFill>
                <a:latin typeface="Arial"/>
              </a:rPr>
              <a:t>Measured in the 2–36% success regime we observed. This need not hold for stronger agents.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534800" y="14781225"/>
            <a:ext cx="13255200" cy="6125976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534800" y="14781225"/>
            <a:ext cx="13255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2" name="Picture 161" descr="poster_dominance_pla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2800" y="14939625"/>
            <a:ext cx="13039200" cy="5859577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7534800" y="20997201"/>
            <a:ext cx="13255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1700" b="1" i="0">
                <a:solidFill>
                  <a:srgbClr val="5D6787"/>
                </a:solidFill>
                <a:latin typeface="Arial"/>
              </a:rPr>
              <a:t>Fig 2.</a:t>
            </a:r>
            <a:r>
              <a:rPr sz="1700" b="0" i="0">
                <a:solidFill>
                  <a:srgbClr val="5D6787"/>
                </a:solidFill>
                <a:latin typeface="Arial"/>
              </a:rPr>
              <a:t> Every choice is compared with </a:t>
            </a:r>
            <a:r>
              <a:rPr sz="1700" b="1" i="0">
                <a:solidFill>
                  <a:srgbClr val="5D6787"/>
                </a:solidFill>
                <a:latin typeface="Arial"/>
              </a:rPr>
              <a:t>always use the cheapest view</a:t>
            </a:r>
            <a:r>
              <a:rPr sz="1700" b="0" i="0">
                <a:solidFill>
                  <a:srgbClr val="5D6787"/>
                </a:solidFill>
                <a:latin typeface="Arial"/>
              </a:rPr>
              <a:t> (★). A win lands in the shaded region: cheaper and no worse. Cheapest means lowest average cost, so some points sit left of ★. Learned choices use held-out tasks.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534800" y="21664813"/>
            <a:ext cx="13255200" cy="2661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1" i="0">
                <a:solidFill>
                  <a:srgbClr val="12162E"/>
                </a:solidFill>
                <a:latin typeface="Arial"/>
              </a:rPr>
              <a:t>Perfect hindsight would pay.</a:t>
            </a:r>
            <a:r>
              <a:rPr sz="2300" b="0" i="0">
                <a:solidFill>
                  <a:srgbClr val="12162E"/>
                </a:solidFill>
                <a:latin typeface="Arial"/>
              </a:rPr>
              <a:t> After-the-fact selection solves </a:t>
            </a:r>
            <a:r>
              <a:rPr sz="2300" b="1" i="0">
                <a:solidFill>
                  <a:srgbClr val="12162E"/>
                </a:solidFill>
                <a:latin typeface="Arial"/>
              </a:rPr>
              <a:t>3.45–16.35 more tasks in 100</a:t>
            </a:r>
            <a:r>
              <a:rPr sz="2300" b="0" i="0">
                <a:solidFill>
                  <a:srgbClr val="12162E"/>
                </a:solidFill>
                <a:latin typeface="Arial"/>
              </a:rPr>
              <a:t> than the best fixed view and spends 1.6–35.3% less, in all 8 settings.</a:t>
            </a:r>
          </a:p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1" i="0">
                <a:solidFill>
                  <a:srgbClr val="12162E"/>
                </a:solidFill>
                <a:latin typeface="Arial"/>
              </a:rPr>
              <a:t>Nothing we trained could do it.</a:t>
            </a:r>
            <a:r>
              <a:rPr sz="2300" b="0" i="0">
                <a:solidFill>
                  <a:srgbClr val="12162E"/>
                </a:solidFill>
                <a:latin typeface="Arial"/>
              </a:rPr>
              <a:t> In </a:t>
            </a:r>
            <a:r>
              <a:rPr sz="2300" b="1" i="0">
                <a:solidFill>
                  <a:srgbClr val="12162E"/>
                </a:solidFill>
                <a:latin typeface="Arial"/>
              </a:rPr>
              <a:t>0 of 8</a:t>
            </a:r>
            <a:r>
              <a:rPr sz="2300" b="0" i="0">
                <a:solidFill>
                  <a:srgbClr val="12162E"/>
                </a:solidFill>
                <a:latin typeface="Arial"/>
              </a:rPr>
              <a:t> settings did a learned choice beat always-cheapest on both success and cost. Hindsight does so in only </a:t>
            </a:r>
            <a:r>
              <a:rPr sz="2300" b="1" i="0">
                <a:solidFill>
                  <a:srgbClr val="12162E"/>
                </a:solidFill>
                <a:latin typeface="Arial"/>
              </a:rPr>
              <a:t>1 of 8</a:t>
            </a:r>
            <a:r>
              <a:rPr sz="2300" b="0" i="0">
                <a:solidFill>
                  <a:srgbClr val="12162E"/>
                </a:solidFill>
                <a:latin typeface="Arial"/>
              </a:rPr>
              <a:t>.</a:t>
            </a:r>
          </a:p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1" i="0">
                <a:solidFill>
                  <a:srgbClr val="12162E"/>
                </a:solidFill>
                <a:latin typeface="Arial"/>
              </a:rPr>
              <a:t>What survives is a bound, not a method.</a:t>
            </a:r>
            <a:r>
              <a:rPr sz="2300" b="0" i="0">
                <a:solidFill>
                  <a:srgbClr val="12162E"/>
                </a:solidFill>
                <a:latin typeface="Arial"/>
              </a:rPr>
              <a:t> Sending never-solved tasks to the cheapest view saves 9.5–30.6% at equal success in 8 of 8, but needs hindsight; plain always-cheapest usually saves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454192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449872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WATCH THE LAPTOP BESIDE THIS POSTER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485976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4869932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534800" y="25081925"/>
            <a:ext cx="13255200" cy="715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23"/>
              </a:spcAft>
            </a:pPr>
            <a:r>
              <a:rPr sz="2300" b="0" i="0">
                <a:solidFill>
                  <a:srgbClr val="12162E"/>
                </a:solidFill>
                <a:latin typeface="Arial"/>
              </a:rPr>
              <a:t>Same task, three views, different behaviour and bills — step by step. Each view wins one illustrative task; this is </a:t>
            </a:r>
            <a:r>
              <a:rPr sz="2300" b="1" i="0">
                <a:solidFill>
                  <a:srgbClr val="12162E"/>
                </a:solidFill>
                <a:latin typeface="Arial"/>
              </a:rPr>
              <a:t>not</a:t>
            </a:r>
            <a:r>
              <a:rPr sz="2300" b="0" i="0">
                <a:solidFill>
                  <a:srgbClr val="12162E"/>
                </a:solidFill>
                <a:latin typeface="Arial"/>
              </a:rPr>
              <a:t> how often each wins.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734800" y="25868985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6753200" y="25868985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8771600" y="25868985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534800" y="26120985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534800" y="26210985"/>
            <a:ext cx="69840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2162E"/>
                </a:solidFill>
                <a:latin typeface="Arial"/>
              </a:rPr>
              <a:t>“Navigate to the item on this page whose image is taken during a sunset.”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734800" y="26210985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700" b="0" i="0">
                <a:solidFill>
                  <a:srgbClr val="12162E"/>
                </a:solidFill>
                <a:latin typeface="Arial"/>
              </a:rPr>
              <a:t>2 steps ·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$0.007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6753200" y="26210985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700" b="0" i="0">
                <a:solidFill>
                  <a:srgbClr val="12162E"/>
                </a:solidFill>
                <a:latin typeface="Arial"/>
              </a:rPr>
              <a:t>21 steps ·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$0.096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771600" y="26210985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700" b="0" i="0">
                <a:solidFill>
                  <a:srgbClr val="12162E"/>
                </a:solidFill>
                <a:latin typeface="Arial"/>
              </a:rPr>
              <a:t>3 steps ·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$0.014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534800" y="26806597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534800" y="26842597"/>
            <a:ext cx="69840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2162E"/>
                </a:solidFill>
                <a:latin typeface="Arial"/>
              </a:rPr>
              <a:t>“Navigate to my listing of the blue bike and change the price to $85.50 (including in the description).”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4734800" y="26842597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700" b="0" i="0">
                <a:solidFill>
                  <a:srgbClr val="12162E"/>
                </a:solidFill>
                <a:latin typeface="Arial"/>
              </a:rPr>
              <a:t>30 steps ·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$0.116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6753200" y="26842597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700" b="0" i="0">
                <a:solidFill>
                  <a:srgbClr val="12162E"/>
                </a:solidFill>
                <a:latin typeface="Arial"/>
              </a:rPr>
              <a:t>9 steps ·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$0.079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771600" y="26842597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700" b="0" i="0">
                <a:solidFill>
                  <a:srgbClr val="12162E"/>
                </a:solidFill>
                <a:latin typeface="Arial"/>
              </a:rPr>
              <a:t>6 steps ·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$0.029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534800" y="27438209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534800" y="27474209"/>
            <a:ext cx="69840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2162E"/>
                </a:solidFill>
                <a:latin typeface="Arial"/>
              </a:rPr>
              <a:t>“Show me the cheapest bike with red handlebars between $900-950.”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4734800" y="27474209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700" b="0" i="0">
                <a:solidFill>
                  <a:srgbClr val="12162E"/>
                </a:solidFill>
                <a:latin typeface="Arial"/>
              </a:rPr>
              <a:t>19 steps ·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$0.075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6753200" y="27474209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700" b="0" i="0">
                <a:solidFill>
                  <a:srgbClr val="12162E"/>
                </a:solidFill>
                <a:latin typeface="Arial"/>
              </a:rPr>
              <a:t>6 steps ·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$0.025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8771600" y="27474209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700" b="0" i="0">
                <a:solidFill>
                  <a:srgbClr val="12162E"/>
                </a:solidFill>
                <a:latin typeface="Arial"/>
              </a:rPr>
              <a:t>7 steps · </a:t>
            </a:r>
            <a:r>
              <a:rPr sz="1700" b="1" i="0">
                <a:solidFill>
                  <a:srgbClr val="12162E"/>
                </a:solidFill>
                <a:latin typeface="Arial"/>
              </a:rPr>
              <a:t>$0.037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7534800" y="27798209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534800" y="27870209"/>
            <a:ext cx="13255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25"/>
              </a:spcAft>
            </a:pPr>
            <a:r>
              <a:rPr sz="1700" b="0" i="0">
                <a:solidFill>
                  <a:srgbClr val="5D6787"/>
                </a:solidFill>
                <a:latin typeface="Arial"/>
              </a:rPr>
              <a:t>One recorded attempt per view, B0 · classifieds. ✓ / ✗ repeated independently; steps and bill vary between runs.</a:t>
            </a:r>
          </a:p>
        </p:txBody>
      </p:sp>
      <p:pic>
        <p:nvPicPr>
          <p:cNvPr id="186" name="Picture 185" descr="qr_rep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