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288000"/>
            <a:ext cx="15526985" cy="1656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Look, read, or both?</a:t>
            </a:r>
          </a:p>
          <a:p>
            <a:pPr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Today's web agents can't yet learn how to see a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36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49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0" i="0">
                <a:solidFill>
                  <a:srgbClr val="FFFFFF"/>
                </a:solidFill>
                <a:latin typeface="Georgia"/>
              </a:rPr>
              <a:t>Perfect hindsight would solve up to 16 more tasks in 100 than the best single view. None of 8 learned choices beat always using the cheapest view on both success and cost.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jiaming.wei.22@ucl.ac.uk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5040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996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RESULTS ACROSS 8,934 TASK ATTEMPTS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357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368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727200" y="5580000"/>
            <a:ext cx="20062800" cy="1170000"/>
          </a:xfrm>
          <a:prstGeom prst="rect">
            <a:avLst/>
          </a:prstGeom>
          <a:solidFill>
            <a:srgbClr val="EC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9200" y="5760000"/>
            <a:ext cx="65196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+16.35 in 100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9200" y="6318000"/>
            <a:ext cx="65196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PERFECT HINDSIGHT, BEST OF 8 · VS ONE FIXED VIEW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98800" y="5760000"/>
            <a:ext cx="65196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0 of 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98800" y="6318000"/>
            <a:ext cx="65196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LEARNED CHOICES THAT BEAT ALWAYS-CHEAPEST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4018400" y="5760000"/>
            <a:ext cx="65196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1 of 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018400" y="6318000"/>
            <a:ext cx="65196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HINDSIGHT CHOICES THAT BEAT ALWAYS-CHEAPEST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7200" y="6894000"/>
            <a:ext cx="65436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ONE FIXED VIEW</a:t>
            </a:r>
            <a:r>
              <a:rPr sz="1271" b="0" i="0">
                <a:solidFill>
                  <a:srgbClr val="12162E"/>
                </a:solidFill>
                <a:latin typeface="Arial"/>
              </a:rPr>
              <a:t> — the single view that solves most tasks in a setting, used for every task.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86800" y="6894000"/>
            <a:ext cx="65436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ALWAYS-CHEAPEST</a:t>
            </a:r>
            <a:r>
              <a:rPr sz="1271" b="0" i="0">
                <a:solidFill>
                  <a:srgbClr val="12162E"/>
                </a:solidFill>
                <a:latin typeface="Arial"/>
              </a:rPr>
              <a:t> — the single view that costs least on average in a setting, used for every task.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246400" y="6894000"/>
            <a:ext cx="6543600" cy="767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PERFECT HINDSIGHT</a:t>
            </a:r>
            <a:r>
              <a:rPr sz="1271" b="0" i="0">
                <a:solidFill>
                  <a:srgbClr val="12162E"/>
                </a:solidFill>
                <a:latin typeface="Arial"/>
              </a:rPr>
              <a:t> — for each task, the view that solved it, picked after the fact. An optimistic bound: rerunning one unchanged view flips 10–14% of outcomes and by itself gains 2.0–7.6 tasks in 100.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7200" y="7985053"/>
            <a:ext cx="6451200" cy="1634345"/>
          </a:xfrm>
          <a:prstGeom prst="rect">
            <a:avLst/>
          </a:prstGeom>
          <a:solidFill>
            <a:srgbClr val="EC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27200" y="7985053"/>
            <a:ext cx="86400" cy="1634345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43200" y="8165053"/>
            <a:ext cx="60192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THE CATCH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43200" y="8399053"/>
            <a:ext cx="60192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The agents that would gain most from choosing a view solve the fewest tasks — so they produce the fewest examples to learn the choice from.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9907398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9864198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WHY LEARNING THE CHOICE FAILS HERE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0225234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0235405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27200" y="10447398"/>
            <a:ext cx="6451200" cy="1613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A training example for “which view” exists only when the agent solves a task. Here the best single view solves just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2–36%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of tasks, leaving typically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15–97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usable examples per setting — enough to train a classifier in only 2 of the 6 VisualWebArena settings.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27200" y="12205306"/>
            <a:ext cx="6451200" cy="4262546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27200" y="12205306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4" name="Picture 93" descr="poster_label_supp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200" y="12363706"/>
            <a:ext cx="6235200" cy="3996147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27200" y="16557852"/>
            <a:ext cx="6451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3.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Usable “which view” examples against the best single view's success rate, one point per VisualWebArena setting. Examples exist only where tasks get solved.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27200" y="17177221"/>
            <a:ext cx="64512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Shrinking the training data on purpose points to scarcity as the main bottleneck, and prices it: the failing settings would need at least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2.1–4.2×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more tasks than the benchmarks contain.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8397566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8354366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TAKEAWAY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8715402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8725573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27200" y="18937566"/>
            <a:ext cx="6451200" cy="1613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Learning how to see is not only a modelling problem: whether it can be learned depends on how good the agent producing the examples already is.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So, in this order: improve the agent, then collect reliable examples, then learn when to look.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27200" y="20605474"/>
            <a:ext cx="6451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Measured in the 2–36% success regime we observed. This need not hold for stronger agents.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34800" y="7985053"/>
            <a:ext cx="13255200" cy="764313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534800" y="7985053"/>
            <a:ext cx="13255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poster_dominance_pla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2800" y="8143453"/>
            <a:ext cx="13039200" cy="7376735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534800" y="15718187"/>
            <a:ext cx="13255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2.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Every way of choosing a view, in every setting, compared with one fixed rule: </a:t>
            </a:r>
            <a:r>
              <a:rPr sz="1271" b="1" i="0">
                <a:solidFill>
                  <a:srgbClr val="5D6787"/>
                </a:solidFill>
                <a:latin typeface="Arial"/>
              </a:rPr>
              <a:t>always use the cheapest view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(★). A win lands in the shaded region — cheaper </a:t>
            </a:r>
            <a:r>
              <a:rPr sz="1271" b="0" i="1">
                <a:solidFill>
                  <a:srgbClr val="5D6787"/>
                </a:solidFill>
                <a:latin typeface="Arial"/>
              </a:rPr>
              <a:t>and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no worse. Always-cheapest is cheapest on average, not on every task, which is why a few points sit left of it. Learned choices are scored only on tasks they never saw.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34800" y="16337556"/>
            <a:ext cx="13255200" cy="2188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Perfect hindsight would pay.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Picking the winning view for each task after the fact would solve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3.45 to 16.35 more tasks in every 100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than the best single view, and spend 1.6–35.3% less — in all 8 settings.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Nothing we trained could do it.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In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0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settings did a learned choice beat always using the cheapest view on both success and cost — and even perfect hindsight manages that in only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What survives is a bound, not a method.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Sending the tasks nobody solves to the cheapest view saves 9.5–30.6% at the same success in 8 of 8 — but that too needs hindsight, and plain always-cheapest usually saves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18778246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8735046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WATCH THE LAPTOP BESIDE THIS POSTER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9096082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9106253"/>
            <a:ext cx="12085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7534800" y="19318246"/>
            <a:ext cx="13255200" cy="645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Same task, three views, different behaviour and different bills — step by step. Three illustrative tasks, chosen so each view wins once;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not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how often each wins.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4734800" y="20071809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753200" y="20071809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8771600" y="20071809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534800" y="20323809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534800" y="20413809"/>
            <a:ext cx="69840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“Navigate to the item on this page whose image is taken during a sunset.”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734800" y="20413809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2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$0.007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6753200" y="20413809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21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$0.096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771600" y="20413809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3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534800" y="20773809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534800" y="20809809"/>
            <a:ext cx="69840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“Navigate to my listing of the blue bike and change the price to $85.50 (including in the description).”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734800" y="20809809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30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753200" y="20809809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9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$0.079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771600" y="20809809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6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$0.029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534800" y="21393178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534800" y="21429178"/>
            <a:ext cx="69840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“Show me the cheapest bike with red handlebars between $900-950.”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734800" y="21429178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19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$0.075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6753200" y="21429178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6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8771600" y="21429178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7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$0.037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534800" y="21789178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534800" y="21861178"/>
            <a:ext cx="132552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One recorded attempt per view, B0 · classifieds. Every ✓ / ✗ came out the same on an independent rerun; steps and bill differ run to 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040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2996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HOW WE MEASURED IT — THE AGENT LOOP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357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368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ight Arrow 124"/>
          <p:cNvSpPr/>
          <p:nvPr/>
        </p:nvSpPr>
        <p:spPr>
          <a:xfrm>
            <a:off x="3823200" y="25056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ight Arrow 125"/>
          <p:cNvSpPr/>
          <p:nvPr/>
        </p:nvSpPr>
        <p:spPr>
          <a:xfrm>
            <a:off x="8215200" y="25056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ight Arrow 126"/>
          <p:cNvSpPr/>
          <p:nvPr/>
        </p:nvSpPr>
        <p:spPr>
          <a:xfrm>
            <a:off x="14119200" y="25056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ight Arrow 127"/>
          <p:cNvSpPr/>
          <p:nvPr/>
        </p:nvSpPr>
        <p:spPr>
          <a:xfrm>
            <a:off x="17791200" y="25056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27200" y="23580000"/>
            <a:ext cx="3024000" cy="3456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27200" y="23580000"/>
            <a:ext cx="3024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89200" y="23706000"/>
            <a:ext cx="270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THE TASK + THE LIVE PAGE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89200" y="23940000"/>
            <a:ext cx="27000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“Show me the cheapest bike with red handlebars between $900–950.”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89200" y="24980345"/>
            <a:ext cx="27000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Part of the intent is in the pictures, part in the text.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255200" y="23580000"/>
            <a:ext cx="3888000" cy="3456000"/>
          </a:xfrm>
          <a:prstGeom prst="rect">
            <a:avLst/>
          </a:prstGeom>
          <a:solidFill>
            <a:srgbClr val="F7F9FD"/>
          </a:solidFill>
          <a:ln w="8890">
            <a:solidFill>
              <a:srgbClr val="5049F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17200" y="23706000"/>
            <a:ext cx="35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WHO DECIDES HOW TO SEE IT?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417200" y="23940000"/>
            <a:ext cx="3564000" cy="82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543200" y="24030000"/>
            <a:ext cx="33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One fixed view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543200" y="24372000"/>
            <a:ext cx="33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the same view for every task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417200" y="24858000"/>
            <a:ext cx="3564000" cy="82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43200" y="24948000"/>
            <a:ext cx="33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Perfect hindsight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43200" y="25290000"/>
            <a:ext cx="33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knowing afterwards which view solved it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417200" y="25776000"/>
            <a:ext cx="3564000" cy="82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543200" y="25866000"/>
            <a:ext cx="33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A learned choice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43200" y="26208000"/>
            <a:ext cx="33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made before the task runs, from the page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417200" y="26730000"/>
            <a:ext cx="35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this box is what we measure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647200" y="23580000"/>
            <a:ext cx="5400000" cy="104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647200" y="23580000"/>
            <a:ext cx="5400000" cy="50400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809200" y="23673600"/>
            <a:ext cx="1080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673200" y="236952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screenshot only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809200" y="24282000"/>
            <a:ext cx="33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3,123 tokens on this page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2214800" y="23634000"/>
            <a:ext cx="1684800" cy="95512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2" name="Picture 151" descr="eye_loo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29200" y="23648400"/>
            <a:ext cx="1656000" cy="926325"/>
          </a:xfrm>
          <a:prstGeom prst="rect">
            <a:avLst/>
          </a:prstGeom>
        </p:spPr>
      </p:pic>
      <p:sp>
        <p:nvSpPr>
          <p:cNvPr id="153" name="Rectangle 152"/>
          <p:cNvSpPr/>
          <p:nvPr/>
        </p:nvSpPr>
        <p:spPr>
          <a:xfrm>
            <a:off x="8647200" y="24786000"/>
            <a:ext cx="5400000" cy="104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647200" y="24786000"/>
            <a:ext cx="5400000" cy="5040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809200" y="24879600"/>
            <a:ext cx="1080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673200" y="249012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page as text: its elements and labels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809200" y="25488000"/>
            <a:ext cx="33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3,314 tokens · +3 text-only variants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2229200" y="24854400"/>
            <a:ext cx="1656000" cy="925200"/>
          </a:xfrm>
          <a:prstGeom prst="rect">
            <a:avLst/>
          </a:prstGeom>
          <a:solidFill>
            <a:srgbClr val="FFFFFF"/>
          </a:solidFill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2283200" y="24908400"/>
            <a:ext cx="1548000" cy="8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50" b="0" i="0">
                <a:solidFill>
                  <a:srgbClr val="12162E"/>
                </a:solidFill>
                <a:latin typeface="Consolas"/>
              </a:rPr>
              <a:t>[2] RootWebArea 'Classifieds'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50" b="0" i="0">
                <a:solidFill>
                  <a:srgbClr val="12162E"/>
                </a:solidFill>
                <a:latin typeface="Consolas"/>
              </a:rPr>
              <a:t>[89] link 'Classifieds'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50" b="0" i="0">
                <a:solidFill>
                  <a:srgbClr val="12162E"/>
                </a:solidFill>
                <a:latin typeface="Consolas"/>
              </a:rPr>
              <a:t>[90] image 'Classifieds'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50" b="0" i="0">
                <a:solidFill>
                  <a:srgbClr val="12162E"/>
                </a:solidFill>
                <a:latin typeface="Consolas"/>
              </a:rPr>
              <a:t>[115] link 'My account'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50" b="0" i="0">
                <a:solidFill>
                  <a:srgbClr val="12162E"/>
                </a:solidFill>
                <a:latin typeface="Consolas"/>
              </a:rPr>
              <a:t>[5] link 'Logout'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50" b="0" i="0">
                <a:solidFill>
                  <a:srgbClr val="12162E"/>
                </a:solidFill>
                <a:latin typeface="Consolas"/>
              </a:rPr>
              <a:t>[118] link 'Publish Ad'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8647200" y="25992000"/>
            <a:ext cx="5400000" cy="104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8647200" y="25992000"/>
            <a:ext cx="5400000" cy="50400"/>
          </a:xfrm>
          <a:prstGeom prst="rect">
            <a:avLst/>
          </a:prstGeom>
          <a:solidFill>
            <a:srgbClr val="148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809200" y="26085600"/>
            <a:ext cx="1080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673200" y="261072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screenshot with numbered boxes, plus the text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809200" y="26694000"/>
            <a:ext cx="33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4,335 tokens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2214800" y="26046000"/>
            <a:ext cx="1684800" cy="95512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6" name="Picture 165" descr="eye_bot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29200" y="26060400"/>
            <a:ext cx="1656000" cy="926325"/>
          </a:xfrm>
          <a:prstGeom prst="rect">
            <a:avLst/>
          </a:prstGeom>
        </p:spPr>
      </p:pic>
      <p:sp>
        <p:nvSpPr>
          <p:cNvPr id="167" name="Rectangle 166"/>
          <p:cNvSpPr/>
          <p:nvPr/>
        </p:nvSpPr>
        <p:spPr>
          <a:xfrm>
            <a:off x="14551200" y="23580000"/>
            <a:ext cx="3168000" cy="3456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4551200" y="23580000"/>
            <a:ext cx="3168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4713200" y="23706000"/>
            <a:ext cx="284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THE AGENT, ONE STEP AT A TIME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4713200" y="23940000"/>
            <a:ext cx="2844000" cy="3227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think → act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713200" y="24316781"/>
            <a:ext cx="28440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click · type · scroll · go back · finish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713200" y="24680465"/>
            <a:ext cx="2844000" cy="767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Only the page view changes; model, prompt, step budget and cost accounting stay fixed.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8223200" y="23580000"/>
            <a:ext cx="2566800" cy="3456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8223200" y="23580000"/>
            <a:ext cx="25668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8385200" y="23706000"/>
            <a:ext cx="22428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WHEN IT STOPS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385200" y="23940000"/>
            <a:ext cx="2242800" cy="771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✓ solved / ✗ not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$ for the attempt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385200" y="24783563"/>
            <a:ext cx="2242800" cy="1022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8 website × model combinations · two public benchmarks · 6 views · 8,934 attempts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6113600" y="27036000"/>
            <a:ext cx="43200" cy="3240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2239200" y="27338400"/>
            <a:ext cx="13896000" cy="432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217600" y="27180000"/>
            <a:ext cx="43200" cy="1800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Isosceles Triangle 180"/>
          <p:cNvSpPr/>
          <p:nvPr/>
        </p:nvSpPr>
        <p:spPr>
          <a:xfrm>
            <a:off x="2131200" y="27036000"/>
            <a:ext cx="216000" cy="162000"/>
          </a:xfrm>
          <a:prstGeom prst="triangle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2599200" y="27414000"/>
            <a:ext cx="13176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the action changes the page → next step · up to 30 steps per task · the bill grows with every step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27200" y="27684000"/>
            <a:ext cx="200628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1.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Everything is held fixed except how the page is shown. The dashed box is what this work measures — one fixed view, perfect hindsight, or a choice a model had to learn — each judged on </a:t>
            </a:r>
            <a:r>
              <a:rPr sz="1271" b="1" i="0">
                <a:solidFill>
                  <a:srgbClr val="5D6787"/>
                </a:solidFill>
                <a:latin typeface="Arial"/>
              </a:rPr>
              <a:t>both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success and cost.</a:t>
            </a:r>
          </a:p>
        </p:txBody>
      </p:sp>
      <p:pic>
        <p:nvPicPr>
          <p:cNvPr id="184" name="Picture 183" descr="qr_rep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