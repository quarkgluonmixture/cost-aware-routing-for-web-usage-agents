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0"/>
  </p:normalViewPr>
  <p:slideViewPr>
    <p:cSldViewPr snapToGrid="0" snapToObjects="1">
      <p:cViewPr>
        <p:scale>
          <a:sx n="55" d="100"/>
          <a:sy n="55" d="100"/>
        </p:scale>
        <p:origin x="1320" y="-49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0624"/>
            <a:ext cx="21384000" cy="290945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_m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21384000" cy="463478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1384000" cy="152561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h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79" y="595805"/>
            <a:ext cx="1827193" cy="1169636"/>
          </a:xfrm>
          <a:prstGeom prst="rect">
            <a:avLst/>
          </a:prstGeom>
        </p:spPr>
      </p:pic>
      <p:pic>
        <p:nvPicPr>
          <p:cNvPr id="6" name="Picture 5" descr="cd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64374" y="443244"/>
            <a:ext cx="1925207" cy="14747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35215" y="360000"/>
            <a:ext cx="15526985" cy="15840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6000"/>
              </a:lnSpc>
            </a:pPr>
            <a:r>
              <a:rPr sz="4200" b="0" i="0">
                <a:solidFill>
                  <a:srgbClr val="FFFFFF"/>
                </a:solidFill>
                <a:latin typeface="Georgia"/>
              </a:rPr>
              <a:t>Can a web agent learn when a screenshot is worth the cost?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7779" y="2129501"/>
            <a:ext cx="20061802" cy="457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36" b="0" i="0">
                <a:solidFill>
                  <a:srgbClr val="FFFFFF"/>
                </a:solidFill>
                <a:latin typeface="Arial"/>
              </a:rPr>
              <a:t>Jiaming Wei          Supervisors: Prof. María Pérez-Ortiz  ·  Zekun Wu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911" y="2569652"/>
            <a:ext cx="20061802" cy="4068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49" b="0" i="0">
                <a:solidFill>
                  <a:srgbClr val="C9C6FF"/>
                </a:solidFill>
                <a:latin typeface="Arial"/>
              </a:rPr>
              <a:t>UCL Centre for Artificial Intelligence          Holistic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7779" y="3308278"/>
            <a:ext cx="20061802" cy="1078916"/>
          </a:xfrm>
          <a:prstGeom prst="rect">
            <a:avLst/>
          </a:prstGeom>
          <a:gradFill rotWithShape="1">
            <a:gsLst>
              <a:gs pos="0">
                <a:srgbClr val="141E41"/>
              </a:gs>
              <a:gs pos="100000">
                <a:srgbClr val="3F3AC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7779" y="3308277"/>
            <a:ext cx="238442" cy="107891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90585" y="3363957"/>
            <a:ext cx="18536190" cy="927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0" i="0">
                <a:solidFill>
                  <a:srgbClr val="FFFFFF"/>
                </a:solidFill>
                <a:latin typeface="Georgia"/>
              </a:rPr>
              <a:t>Hindsight reveals a real routing opportunity. Against always-cheapest, none of eight learned routers — and only one of eight hindsight oracles — win on both success and cost. These agents solve just 2–36% of tasks, starving the router of the supervision it would need.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-375" y="28403797"/>
            <a:ext cx="21384000" cy="1881588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-375" y="28403797"/>
            <a:ext cx="21384000" cy="10170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27200" y="29119390"/>
            <a:ext cx="12438317" cy="1017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jiaming.wei.22@ucl.ac.uk</a:t>
            </a:r>
          </a:p>
          <a:p>
            <a:pPr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Paper, code &amp; full results: github.com/Quarkgluonmixture/Cost-Aware-Routing-for-Web-Usage-Agents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399552" y="29383118"/>
            <a:ext cx="4831105" cy="355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88" b="0" spc="100">
                <a:solidFill>
                  <a:srgbClr val="8892B0"/>
                </a:solidFill>
                <a:latin typeface="Consolas"/>
              </a:rPr>
              <a:t>Holistic AI × UCL CDI · 16 September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399552" y="29140955"/>
            <a:ext cx="4831105" cy="4068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 i="0">
                <a:solidFill>
                  <a:srgbClr val="5049F9"/>
                </a:solidFill>
                <a:latin typeface="Consolas"/>
              </a:rPr>
              <a:t>Explore all 8 settings →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512000" y="5256000"/>
            <a:ext cx="21600" cy="3384000"/>
          </a:xfrm>
          <a:prstGeom prst="rect">
            <a:avLst/>
          </a:prstGeom>
          <a:solidFill>
            <a:srgbClr val="E2E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20000" y="5040000"/>
            <a:ext cx="8640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500" b="0" i="0">
                <a:solidFill>
                  <a:srgbClr val="5D6787"/>
                </a:solidFill>
                <a:latin typeface="Consolas"/>
              </a:rPr>
              <a:t>IN HINDSIGHT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20000" y="5364000"/>
            <a:ext cx="900000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0" b="0" i="0">
                <a:solidFill>
                  <a:srgbClr val="141E41"/>
                </a:solidFill>
                <a:latin typeface="Consolas"/>
              </a:rPr>
              <a:t>+16.35 pp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20000" y="6516000"/>
            <a:ext cx="9000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500" b="0" i="0">
                <a:solidFill>
                  <a:srgbClr val="141E41"/>
                </a:solidFill>
                <a:latin typeface="Consolas"/>
              </a:rPr>
              <a:t>MORE TASKS SOLVED PER 100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0000" y="6768000"/>
            <a:ext cx="9000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500" b="0" i="0">
                <a:solidFill>
                  <a:srgbClr val="5D6787"/>
                </a:solidFill>
                <a:latin typeface="Consolas"/>
              </a:rPr>
              <a:t>vs the best single fixed mode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0000" y="7848000"/>
            <a:ext cx="9288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100" b="0" i="0">
                <a:solidFill>
                  <a:srgbClr val="12162E"/>
                </a:solidFill>
                <a:latin typeface="Arial"/>
              </a:rPr>
              <a:t>So there is something genuinely worth routing to.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232000" y="5040000"/>
            <a:ext cx="8640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500" b="0" i="0">
                <a:solidFill>
                  <a:srgbClr val="5D6787"/>
                </a:solidFill>
                <a:latin typeface="Consolas"/>
              </a:rPr>
              <a:t>WHEN ACTUALLY LEARNED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232000" y="5112000"/>
            <a:ext cx="3240000" cy="27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0" b="0" i="0">
                <a:solidFill>
                  <a:srgbClr val="E8720C"/>
                </a:solidFill>
                <a:latin typeface="Consolas"/>
              </a:rPr>
              <a:t>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068000" y="6840000"/>
            <a:ext cx="3240000" cy="79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200" b="0" i="0">
                <a:solidFill>
                  <a:srgbClr val="E8720C"/>
                </a:solidFill>
                <a:latin typeface="Consolas"/>
              </a:rPr>
              <a:t>of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264000" y="5760000"/>
            <a:ext cx="576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0" i="0">
                <a:solidFill>
                  <a:srgbClr val="141E41"/>
                </a:solidFill>
                <a:latin typeface="Consolas"/>
              </a:rPr>
              <a:t>LEARNED ROUTERS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264000" y="6300000"/>
            <a:ext cx="568800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0">
                <a:solidFill>
                  <a:srgbClr val="5D6787"/>
                </a:solidFill>
                <a:latin typeface="Consolas"/>
              </a:rPr>
              <a:t>beat always-cheapest on both success and cost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232000" y="7848000"/>
            <a:ext cx="943200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100" b="0" i="0">
                <a:solidFill>
                  <a:srgbClr val="12162E"/>
                </a:solidFill>
                <a:latin typeface="Arial"/>
              </a:rPr>
              <a:t>Not one beat always-cheapest on both counts.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000" y="9432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25123" y="9388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41E41"/>
                </a:solidFill>
                <a:latin typeface="Consolas"/>
              </a:rPr>
              <a:t>WHAT WE ACTUALLY DID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0000" y="9749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89636" y="9760007"/>
            <a:ext cx="59223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720000" y="10008000"/>
            <a:ext cx="709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5D6787"/>
                </a:solidFill>
                <a:latin typeface="Consolas"/>
              </a:rPr>
              <a:t>THE AGENT IS GIVEN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20000" y="10260000"/>
            <a:ext cx="7092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100" b="0" i="0">
                <a:solidFill>
                  <a:srgbClr val="141E41"/>
                </a:solidFill>
                <a:latin typeface="Georgia"/>
              </a:rPr>
              <a:t>“Find me the cheapest blue kayak on this site.”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20000" y="10872000"/>
            <a:ext cx="709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 i="0">
                <a:solidFill>
                  <a:srgbClr val="5D6787"/>
                </a:solidFill>
                <a:latin typeface="Consolas"/>
              </a:rPr>
              <a:t>A REAL TASK — VISUALWEBARENA, CLASSIFIEDS #0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20000" y="11268000"/>
            <a:ext cx="7092000" cy="165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/>
        </p:txBody>
      </p:sp>
      <p:sp>
        <p:nvSpPr>
          <p:cNvPr id="93" name="Rectangle 92"/>
          <p:cNvSpPr/>
          <p:nvPr/>
        </p:nvSpPr>
        <p:spPr>
          <a:xfrm>
            <a:off x="720000" y="11268000"/>
            <a:ext cx="7092000" cy="360000"/>
          </a:xfrm>
          <a:prstGeom prst="rect">
            <a:avLst/>
          </a:prstGeom>
          <a:solidFill>
            <a:srgbClr val="EC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900000" y="11397600"/>
            <a:ext cx="93600" cy="93600"/>
          </a:xfrm>
          <a:prstGeom prst="ellipse">
            <a:avLst/>
          </a:prstGeom>
          <a:solidFill>
            <a:srgbClr val="D8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080000" y="11397600"/>
            <a:ext cx="93600" cy="93600"/>
          </a:xfrm>
          <a:prstGeom prst="ellipse">
            <a:avLst/>
          </a:prstGeom>
          <a:solidFill>
            <a:srgbClr val="D8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260000" y="11397600"/>
            <a:ext cx="93600" cy="93600"/>
          </a:xfrm>
          <a:prstGeom prst="ellipse">
            <a:avLst/>
          </a:prstGeom>
          <a:solidFill>
            <a:srgbClr val="D8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548000" y="11372400"/>
            <a:ext cx="6156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 i="0">
                <a:solidFill>
                  <a:srgbClr val="5D6787"/>
                </a:solidFill>
                <a:latin typeface="Consolas"/>
              </a:rPr>
              <a:t>classifieds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36000" y="11714400"/>
            <a:ext cx="396000" cy="259200"/>
          </a:xfrm>
          <a:prstGeom prst="roundRect">
            <a:avLst>
              <a:gd name="adj" fmla="val 12000"/>
            </a:avLst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512000" y="11736000"/>
            <a:ext cx="3780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500" b="0" i="0">
                <a:solidFill>
                  <a:srgbClr val="12162E"/>
                </a:solidFill>
                <a:latin typeface="Arial"/>
              </a:rPr>
              <a:t>Sea kayak — blue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72000" y="11736000"/>
            <a:ext cx="1224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6000"/>
              </a:lnSpc>
              <a:spcAft>
                <a:spcPts val="0"/>
              </a:spcAft>
            </a:pPr>
            <a:r>
              <a:rPr sz="1500" b="0" i="0">
                <a:solidFill>
                  <a:srgbClr val="141E41"/>
                </a:solidFill>
                <a:latin typeface="Consolas"/>
              </a:rPr>
              <a:t>£340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36000" y="12060000"/>
            <a:ext cx="6660000" cy="10800"/>
          </a:xfrm>
          <a:prstGeom prst="rect">
            <a:avLst/>
          </a:prstGeom>
          <a:solidFill>
            <a:srgbClr val="E2E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936000" y="12146400"/>
            <a:ext cx="396000" cy="259200"/>
          </a:xfrm>
          <a:prstGeom prst="roundRect">
            <a:avLst>
              <a:gd name="adj" fmla="val 12000"/>
            </a:avLst>
          </a:prstGeom>
          <a:solidFill>
            <a:srgbClr val="C2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12000" y="12168000"/>
            <a:ext cx="3780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500" b="0" i="0">
                <a:solidFill>
                  <a:srgbClr val="12162E"/>
                </a:solidFill>
                <a:latin typeface="Arial"/>
              </a:rPr>
              <a:t>Kayak — red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372000" y="12168000"/>
            <a:ext cx="1224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6000"/>
              </a:lnSpc>
              <a:spcAft>
                <a:spcPts val="0"/>
              </a:spcAft>
            </a:pPr>
            <a:r>
              <a:rPr sz="1500" b="0" i="0">
                <a:solidFill>
                  <a:srgbClr val="141E41"/>
                </a:solidFill>
                <a:latin typeface="Consolas"/>
              </a:rPr>
              <a:t>£295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36000" y="12492000"/>
            <a:ext cx="6660000" cy="10800"/>
          </a:xfrm>
          <a:prstGeom prst="rect">
            <a:avLst/>
          </a:prstGeom>
          <a:solidFill>
            <a:srgbClr val="E2E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936000" y="12578400"/>
            <a:ext cx="396000" cy="259200"/>
          </a:xfrm>
          <a:prstGeom prst="roundRect">
            <a:avLst>
              <a:gd name="adj" fmla="val 12000"/>
            </a:avLst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512000" y="12600000"/>
            <a:ext cx="3780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500" b="0" i="0">
                <a:solidFill>
                  <a:srgbClr val="12162E"/>
                </a:solidFill>
                <a:latin typeface="Arial"/>
              </a:rPr>
              <a:t>Blue kayak, 2 seat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72000" y="12600000"/>
            <a:ext cx="1224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6000"/>
              </a:lnSpc>
              <a:spcAft>
                <a:spcPts val="0"/>
              </a:spcAft>
            </a:pPr>
            <a:r>
              <a:rPr sz="1500" b="0" i="0">
                <a:solidFill>
                  <a:srgbClr val="141E41"/>
                </a:solidFill>
                <a:latin typeface="Consolas"/>
              </a:rPr>
              <a:t>£410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20000" y="12996000"/>
            <a:ext cx="709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D6787"/>
                </a:solidFill>
                <a:latin typeface="Consolas"/>
              </a:rPr>
              <a:t>ILLUSTRATIVE — NOT A BENCHMARK SCREENSHOT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20000" y="13212000"/>
            <a:ext cx="7092000" cy="3399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1275"/>
              </a:spcAft>
            </a:pPr>
            <a:r>
              <a:rPr sz="1900" b="1" i="0">
                <a:solidFill>
                  <a:srgbClr val="12162E"/>
                </a:solidFill>
                <a:latin typeface="Arial"/>
              </a:rPr>
              <a:t>“blue”</a:t>
            </a:r>
            <a:r>
              <a:rPr sz="1900" b="0" i="0">
                <a:solidFill>
                  <a:srgbClr val="12162E"/>
                </a:solidFill>
                <a:latin typeface="Arial"/>
              </a:rPr>
              <a:t> can be visual. </a:t>
            </a:r>
            <a:r>
              <a:rPr sz="1900" b="1" i="0">
                <a:solidFill>
                  <a:srgbClr val="12162E"/>
                </a:solidFill>
                <a:latin typeface="Arial"/>
              </a:rPr>
              <a:t>“cheapest”</a:t>
            </a:r>
            <a:r>
              <a:rPr sz="1900" b="0" i="0">
                <a:solidFill>
                  <a:srgbClr val="12162E"/>
                </a:solidFill>
                <a:latin typeface="Arial"/>
              </a:rPr>
              <a:t> is textual.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20000" y="13659914"/>
            <a:ext cx="709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300" b="0" i="0">
                <a:solidFill>
                  <a:srgbClr val="5049F9"/>
                </a:solidFill>
                <a:latin typeface="Georgia"/>
              </a:rPr>
              <a:t>Should the agent pay to look?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22400" y="14199914"/>
            <a:ext cx="43200" cy="360000"/>
          </a:xfrm>
          <a:prstGeom prst="rect">
            <a:avLst/>
          </a:prstGeom>
          <a:solidFill>
            <a:srgbClr val="D8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Isosceles Triangle 112"/>
          <p:cNvSpPr/>
          <p:nvPr/>
        </p:nvSpPr>
        <p:spPr>
          <a:xfrm rot="10800000">
            <a:off x="950400" y="14523914"/>
            <a:ext cx="187200" cy="144000"/>
          </a:xfrm>
          <a:prstGeom prst="triangle">
            <a:avLst/>
          </a:prstGeom>
          <a:solidFill>
            <a:srgbClr val="D8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0000" y="14253914"/>
            <a:ext cx="32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300" b="0" i="0">
                <a:solidFill>
                  <a:srgbClr val="5D6787"/>
                </a:solidFill>
                <a:latin typeface="Consolas"/>
              </a:rPr>
              <a:t>RUN THE SAME TASK SIX WAYS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20000" y="14775914"/>
            <a:ext cx="709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5D6787"/>
                </a:solidFill>
                <a:latin typeface="Consolas"/>
              </a:rPr>
              <a:t>NO IMAGE AT ALL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720000" y="15027914"/>
            <a:ext cx="1705500" cy="468000"/>
          </a:xfrm>
          <a:prstGeom prst="roundRect">
            <a:avLst>
              <a:gd name="adj" fmla="val 14000"/>
            </a:avLst>
          </a:prstGeom>
          <a:solidFill>
            <a:srgbClr val="E8E7FF"/>
          </a:solidFill>
          <a:ln w="15875">
            <a:solidFill>
              <a:srgbClr val="5049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141E41"/>
                </a:solidFill>
                <a:latin typeface="Consolas"/>
              </a:rPr>
              <a:t>DOM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515500" y="15027914"/>
            <a:ext cx="1705500" cy="468000"/>
          </a:xfrm>
          <a:prstGeom prst="roundRect">
            <a:avLst>
              <a:gd name="adj" fmla="val 14000"/>
            </a:avLst>
          </a:prstGeom>
          <a:solidFill>
            <a:srgbClr val="E8E7FF"/>
          </a:solidFill>
          <a:ln w="15875">
            <a:solidFill>
              <a:srgbClr val="5049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141E41"/>
                </a:solidFill>
                <a:latin typeface="Consolas"/>
              </a:rPr>
              <a:t>P-text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311000" y="15027914"/>
            <a:ext cx="1705500" cy="468000"/>
          </a:xfrm>
          <a:prstGeom prst="roundRect">
            <a:avLst>
              <a:gd name="adj" fmla="val 14000"/>
            </a:avLst>
          </a:prstGeom>
          <a:solidFill>
            <a:srgbClr val="E8E7FF"/>
          </a:solidFill>
          <a:ln w="15875">
            <a:solidFill>
              <a:srgbClr val="5049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141E41"/>
                </a:solidFill>
                <a:latin typeface="Consolas"/>
              </a:rPr>
              <a:t>P-prompt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106500" y="15027914"/>
            <a:ext cx="1705500" cy="468000"/>
          </a:xfrm>
          <a:prstGeom prst="roundRect">
            <a:avLst>
              <a:gd name="adj" fmla="val 14000"/>
            </a:avLst>
          </a:prstGeom>
          <a:solidFill>
            <a:srgbClr val="E8E7FF"/>
          </a:solidFill>
          <a:ln w="15875">
            <a:solidFill>
              <a:srgbClr val="5049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141E41"/>
                </a:solidFill>
                <a:latin typeface="Consolas"/>
              </a:rPr>
              <a:t>P-SoM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0000" y="15711914"/>
            <a:ext cx="709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5D6787"/>
                </a:solidFill>
                <a:latin typeface="Consolas"/>
              </a:rPr>
              <a:t>TEXT + SCREENSHOT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20000" y="15963914"/>
            <a:ext cx="7092000" cy="468000"/>
          </a:xfrm>
          <a:prstGeom prst="roundRect">
            <a:avLst>
              <a:gd name="adj" fmla="val 14000"/>
            </a:avLst>
          </a:prstGeom>
          <a:solidFill>
            <a:srgbClr val="5049F9"/>
          </a:solidFill>
          <a:ln w="15875">
            <a:solidFill>
              <a:srgbClr val="5049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onsolas"/>
              </a:rPr>
              <a:t>SoM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20000" y="16647914"/>
            <a:ext cx="709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5D6787"/>
                </a:solidFill>
                <a:latin typeface="Consolas"/>
              </a:rPr>
              <a:t>SCREENSHOT ONLY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720000" y="16899914"/>
            <a:ext cx="7092000" cy="468000"/>
          </a:xfrm>
          <a:prstGeom prst="roundRect">
            <a:avLst>
              <a:gd name="adj" fmla="val 14000"/>
            </a:avLst>
          </a:prstGeom>
          <a:solidFill>
            <a:srgbClr val="D8DCE8"/>
          </a:solidFill>
          <a:ln w="15875">
            <a:solidFill>
              <a:srgbClr val="5D67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1E41"/>
                </a:solidFill>
                <a:latin typeface="Consolas"/>
              </a:rPr>
              <a:t>Vision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22400" y="17583914"/>
            <a:ext cx="43200" cy="360000"/>
          </a:xfrm>
          <a:prstGeom prst="rect">
            <a:avLst/>
          </a:prstGeom>
          <a:solidFill>
            <a:srgbClr val="D8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Isosceles Triangle 124"/>
          <p:cNvSpPr/>
          <p:nvPr/>
        </p:nvSpPr>
        <p:spPr>
          <a:xfrm rot="10800000">
            <a:off x="950400" y="17907914"/>
            <a:ext cx="187200" cy="144000"/>
          </a:xfrm>
          <a:prstGeom prst="triangle">
            <a:avLst/>
          </a:prstGeom>
          <a:solidFill>
            <a:srgbClr val="D8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260000" y="17637914"/>
            <a:ext cx="540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300" b="0" i="0">
                <a:solidFill>
                  <a:srgbClr val="5D6787"/>
                </a:solidFill>
                <a:latin typeface="Consolas"/>
              </a:rPr>
              <a:t>MEASURE SUCCESS × COST, THEN COMPARE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20000" y="18195914"/>
            <a:ext cx="79200" cy="396000"/>
          </a:xfrm>
          <a:prstGeom prst="rect">
            <a:avLst/>
          </a:prstGeom>
          <a:solidFill>
            <a:srgbClr val="D8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72000" y="18195914"/>
            <a:ext cx="684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400" b="0" i="0">
                <a:solidFill>
                  <a:srgbClr val="141E41"/>
                </a:solidFill>
                <a:latin typeface="Consolas"/>
              </a:rPr>
              <a:t>FIXED MODE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72000" y="18411914"/>
            <a:ext cx="684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the same choice every task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20000" y="18771914"/>
            <a:ext cx="79200" cy="396000"/>
          </a:xfrm>
          <a:prstGeom prst="rect">
            <a:avLst/>
          </a:prstGeom>
          <a:solidFill>
            <a:srgbClr val="D8D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72000" y="18771914"/>
            <a:ext cx="684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400" b="0" i="0">
                <a:solidFill>
                  <a:srgbClr val="141E41"/>
                </a:solidFill>
                <a:latin typeface="Consolas"/>
              </a:rPr>
              <a:t>HINDSIGHT ORACLE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72000" y="18987914"/>
            <a:ext cx="684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the best choice, known afterwards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20000" y="19347914"/>
            <a:ext cx="79200" cy="3960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72000" y="19347914"/>
            <a:ext cx="684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400" b="0" i="0">
                <a:solidFill>
                  <a:srgbClr val="141E41"/>
                </a:solidFill>
                <a:latin typeface="Consolas"/>
              </a:rPr>
              <a:t>LEARNED ROUTER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72000" y="19563914"/>
            <a:ext cx="684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a choice made before the task runs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20000" y="20031914"/>
            <a:ext cx="7092000" cy="12600"/>
          </a:xfrm>
          <a:prstGeom prst="rect">
            <a:avLst/>
          </a:prstGeom>
          <a:solidFill>
            <a:srgbClr val="E2E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20000" y="20175914"/>
            <a:ext cx="7092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141E41"/>
                </a:solidFill>
                <a:latin typeface="Consolas"/>
              </a:rPr>
              <a:t>6 modes · 8 benchmark–model settings · 8,934 episodes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16000" y="9432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21123" y="9388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41E41"/>
                </a:solidFill>
                <a:latin typeface="Consolas"/>
              </a:rPr>
              <a:t>NOTHING WE TRAINED WON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316000" y="9749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485636" y="9760007"/>
            <a:ext cx="111783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8316000" y="10008000"/>
            <a:ext cx="12348000" cy="6798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1275"/>
              </a:spcAft>
            </a:pPr>
            <a:r>
              <a:rPr sz="1900" b="0" i="0">
                <a:solidFill>
                  <a:srgbClr val="12162E"/>
                </a:solidFill>
                <a:latin typeface="Arial"/>
              </a:rPr>
              <a:t>Every policy, in every pair, measured against one simple fixed baseline: </a:t>
            </a:r>
            <a:r>
              <a:rPr sz="1900" b="1" i="0">
                <a:solidFill>
                  <a:srgbClr val="12162E"/>
                </a:solidFill>
                <a:latin typeface="Arial"/>
              </a:rPr>
              <a:t>always use the cheapest mode</a:t>
            </a:r>
            <a:r>
              <a:rPr sz="1900" b="0" i="0">
                <a:solidFill>
                  <a:srgbClr val="12162E"/>
                </a:solidFill>
                <a:latin typeface="Arial"/>
              </a:rPr>
              <a:t>. A win means landing in the shaded region — cheaper </a:t>
            </a:r>
            <a:r>
              <a:rPr sz="1900" b="0" i="1">
                <a:solidFill>
                  <a:srgbClr val="12162E"/>
                </a:solidFill>
                <a:latin typeface="Arial"/>
              </a:rPr>
              <a:t>and</a:t>
            </a:r>
            <a:r>
              <a:rPr sz="1900" b="0" i="0">
                <a:solidFill>
                  <a:srgbClr val="12162E"/>
                </a:solidFill>
                <a:latin typeface="Arial"/>
              </a:rPr>
              <a:t> no worse.</a:t>
            </a:r>
          </a:p>
        </p:txBody>
      </p:sp>
      <p:pic>
        <p:nvPicPr>
          <p:cNvPr id="139" name="Picture 138" descr="poster_dominance_pla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6000" y="10903828"/>
            <a:ext cx="12348000" cy="7731896"/>
          </a:xfrm>
          <a:prstGeom prst="rect">
            <a:avLst/>
          </a:prstGeom>
        </p:spPr>
      </p:pic>
      <p:sp>
        <p:nvSpPr>
          <p:cNvPr id="140" name="Rectangle 139"/>
          <p:cNvSpPr/>
          <p:nvPr/>
        </p:nvSpPr>
        <p:spPr>
          <a:xfrm>
            <a:off x="8316000" y="18815724"/>
            <a:ext cx="86400" cy="468000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604000" y="18779724"/>
            <a:ext cx="1206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2200" b="1" i="0">
                <a:solidFill>
                  <a:srgbClr val="E8720C"/>
                </a:solidFill>
                <a:latin typeface="Arial"/>
              </a:rPr>
              <a:t>0 of 8  </a:t>
            </a:r>
            <a:r>
              <a:rPr sz="1900" b="0" i="0">
                <a:solidFill>
                  <a:srgbClr val="12162E"/>
                </a:solidFill>
                <a:latin typeface="Arial"/>
              </a:rPr>
              <a:t>learned routers land in the win region.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316000" y="19391724"/>
            <a:ext cx="86400" cy="468000"/>
          </a:xfrm>
          <a:prstGeom prst="rect">
            <a:avLst/>
          </a:prstGeom>
          <a:solidFill>
            <a:srgbClr val="148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604000" y="19355724"/>
            <a:ext cx="1206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2200" b="1" i="0">
                <a:solidFill>
                  <a:srgbClr val="14855F"/>
                </a:solidFill>
                <a:latin typeface="Arial"/>
              </a:rPr>
              <a:t>1 of 8  </a:t>
            </a:r>
            <a:r>
              <a:rPr sz="1900" b="0" i="0">
                <a:solidFill>
                  <a:srgbClr val="12162E"/>
                </a:solidFill>
                <a:latin typeface="Arial"/>
              </a:rPr>
              <a:t>hindsight oracles clear the same bar — so learning failure alone cannot explain this.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16000" y="20003724"/>
            <a:ext cx="12348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00" b="0" i="0">
                <a:solidFill>
                  <a:srgbClr val="5D6787"/>
                </a:solidFill>
                <a:latin typeface="Arial"/>
              </a:rPr>
              <a:t>Always-cheapest is the cheapest fixed policy </a:t>
            </a:r>
            <a:r>
              <a:rPr sz="1500" b="1" i="0">
                <a:solidFill>
                  <a:srgbClr val="5D6787"/>
                </a:solidFill>
                <a:latin typeface="Arial"/>
              </a:rPr>
              <a:t>on average</a:t>
            </a:r>
            <a:r>
              <a:rPr sz="1500" b="0" i="0">
                <a:solidFill>
                  <a:srgbClr val="5D6787"/>
                </a:solidFill>
                <a:latin typeface="Arial"/>
              </a:rPr>
              <a:t>, not a per-episode floor — which is why a few points sit left of it. Nested cross-validation; 10,000 bundle permutations.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000" y="21024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25123" y="20980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41E41"/>
                </a:solidFill>
                <a:latin typeface="Consolas"/>
              </a:rPr>
              <a:t>THE ROUTING PARADOX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0000" y="21341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89636" y="21352007"/>
            <a:ext cx="84063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720000" y="21708000"/>
            <a:ext cx="9576000" cy="1390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66"/>
              </a:spcAft>
            </a:pPr>
            <a:r>
              <a:rPr sz="3100" b="0" i="0">
                <a:solidFill>
                  <a:srgbClr val="141E41"/>
                </a:solidFill>
                <a:latin typeface="Georgia"/>
              </a:rPr>
              <a:t>Weak agents need routing most —</a:t>
            </a:r>
          </a:p>
          <a:p>
            <a:pPr algn="l">
              <a:lnSpc>
                <a:spcPct val="130000"/>
              </a:lnSpc>
              <a:spcAft>
                <a:spcPts val="566"/>
              </a:spcAft>
            </a:pPr>
            <a:r>
              <a:rPr sz="3100" b="0" i="0">
                <a:solidFill>
                  <a:srgbClr val="141E41"/>
                </a:solidFill>
                <a:latin typeface="Georgia"/>
              </a:rPr>
              <a:t>but produce the least supervision to learn it.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20000" y="23566344"/>
            <a:ext cx="468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 i="0">
                <a:solidFill>
                  <a:srgbClr val="141E41"/>
                </a:solidFill>
                <a:latin typeface="Consolas"/>
              </a:rPr>
              <a:t>2–36%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20000" y="24250344"/>
            <a:ext cx="468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Consolas"/>
              </a:rPr>
              <a:t>OF TASKS THESE AGENTS SOLVE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616000" y="23566344"/>
            <a:ext cx="468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 i="0">
                <a:solidFill>
                  <a:srgbClr val="141E41"/>
                </a:solidFill>
                <a:latin typeface="Consolas"/>
              </a:rPr>
              <a:t>15–97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616000" y="24250344"/>
            <a:ext cx="468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Consolas"/>
              </a:rPr>
              <a:t>USABLE ROUTING LABELS, TYPICALLY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20000" y="24862344"/>
            <a:ext cx="9576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A routing label is born only when the agent solves something.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800000" y="21024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105123" y="20980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141E41"/>
                </a:solidFill>
                <a:latin typeface="Consolas"/>
              </a:rPr>
              <a:t>CALIBRATION  ·  WHAT SURVIVES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800000" y="21341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1969636" y="21352007"/>
            <a:ext cx="86943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Rounded Rectangle 150"/>
          <p:cNvSpPr/>
          <p:nvPr/>
        </p:nvSpPr>
        <p:spPr>
          <a:xfrm>
            <a:off x="10800000" y="21600000"/>
            <a:ext cx="9864000" cy="2880000"/>
          </a:xfrm>
          <a:prstGeom prst="roundRect">
            <a:avLst>
              <a:gd name="adj" fmla="val 4000"/>
            </a:avLst>
          </a:prstGeom>
          <a:solidFill>
            <a:srgbClr val="F7F8FC"/>
          </a:solidFill>
          <a:ln w="12700">
            <a:solidFill>
              <a:srgbClr val="E2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1088000" y="21780000"/>
            <a:ext cx="9288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00" b="0" i="0">
                <a:solidFill>
                  <a:srgbClr val="12162E"/>
                </a:solidFill>
                <a:latin typeface="Arial"/>
              </a:rPr>
              <a:t>Rerunning </a:t>
            </a:r>
            <a:r>
              <a:rPr sz="1500" b="1" i="0">
                <a:solidFill>
                  <a:srgbClr val="12162E"/>
                </a:solidFill>
                <a:latin typeface="Arial"/>
              </a:rPr>
              <a:t>one mode on the same tasks</a:t>
            </a:r>
            <a:r>
              <a:rPr sz="1500" b="0" i="0">
                <a:solidFill>
                  <a:srgbClr val="12162E"/>
                </a:solidFill>
                <a:latin typeface="Arial"/>
              </a:rPr>
              <a:t> flips </a:t>
            </a:r>
            <a:r>
              <a:rPr sz="1500" b="1" i="0">
                <a:solidFill>
                  <a:srgbClr val="12162E"/>
                </a:solidFill>
                <a:latin typeface="Arial"/>
              </a:rPr>
              <a:t>12–14%</a:t>
            </a:r>
            <a:r>
              <a:rPr sz="1500" b="0" i="0">
                <a:solidFill>
                  <a:srgbClr val="12162E"/>
                </a:solidFill>
                <a:latin typeface="Arial"/>
              </a:rPr>
              <a:t> of outcomes. So we measured the ceiling against that ruler: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1664000" y="23436000"/>
            <a:ext cx="7056000" cy="14400"/>
          </a:xfrm>
          <a:prstGeom prst="rect">
            <a:avLst/>
          </a:prstGeom>
          <a:solidFill>
            <a:srgbClr val="5D6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1664000" y="23436000"/>
            <a:ext cx="14400" cy="72000"/>
          </a:xfrm>
          <a:prstGeom prst="rect">
            <a:avLst/>
          </a:prstGeom>
          <a:solidFill>
            <a:srgbClr val="5D6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1448000" y="23526000"/>
            <a:ext cx="43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1100" b="0" i="0">
                <a:solidFill>
                  <a:srgbClr val="5D6787"/>
                </a:solidFill>
                <a:latin typeface="Consolas"/>
              </a:rPr>
              <a:t>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4016000" y="23436000"/>
            <a:ext cx="14400" cy="72000"/>
          </a:xfrm>
          <a:prstGeom prst="rect">
            <a:avLst/>
          </a:prstGeom>
          <a:solidFill>
            <a:srgbClr val="5D6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3800000" y="23526000"/>
            <a:ext cx="43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1100" b="0" i="0">
                <a:solidFill>
                  <a:srgbClr val="5D6787"/>
                </a:solidFill>
                <a:latin typeface="Consolas"/>
              </a:rPr>
              <a:t>3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6368000" y="23436000"/>
            <a:ext cx="14400" cy="72000"/>
          </a:xfrm>
          <a:prstGeom prst="rect">
            <a:avLst/>
          </a:prstGeom>
          <a:solidFill>
            <a:srgbClr val="5D6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6152000" y="23526000"/>
            <a:ext cx="43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1100" b="0" i="0">
                <a:solidFill>
                  <a:srgbClr val="5D6787"/>
                </a:solidFill>
                <a:latin typeface="Consolas"/>
              </a:rPr>
              <a:t>6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8720000" y="23436000"/>
            <a:ext cx="14400" cy="72000"/>
          </a:xfrm>
          <a:prstGeom prst="rect">
            <a:avLst/>
          </a:prstGeom>
          <a:solidFill>
            <a:srgbClr val="5D6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8504000" y="23526000"/>
            <a:ext cx="43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1100" b="0" i="0">
                <a:solidFill>
                  <a:srgbClr val="5D6787"/>
                </a:solidFill>
                <a:latin typeface="Consolas"/>
              </a:rPr>
              <a:t>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664000" y="23724000"/>
            <a:ext cx="7056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1100" b="0" i="0">
                <a:solidFill>
                  <a:srgbClr val="5D6787"/>
                </a:solidFill>
                <a:latin typeface="Consolas"/>
              </a:rPr>
              <a:t>gain from adding a representation  [pp]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15160640" y="23076000"/>
            <a:ext cx="2453920" cy="360000"/>
          </a:xfrm>
          <a:prstGeom prst="rect">
            <a:avLst/>
          </a:prstGeom>
          <a:solidFill>
            <a:srgbClr val="F6C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5160640" y="23166000"/>
            <a:ext cx="245392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9A4A00"/>
                </a:solidFill>
                <a:latin typeface="Consolas"/>
              </a:rPr>
              <a:t>4.46–7.59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2928640" y="23130000"/>
            <a:ext cx="2124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6000"/>
              </a:lnSpc>
              <a:spcAft>
                <a:spcPts val="0"/>
              </a:spcAft>
            </a:pPr>
            <a:r>
              <a:rPr sz="1150" b="0" i="0">
                <a:solidFill>
                  <a:srgbClr val="E8720C"/>
                </a:solidFill>
                <a:latin typeface="Consolas"/>
              </a:rPr>
              <a:t>same-mode rerun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17225760" y="22860000"/>
            <a:ext cx="72000" cy="6480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16397760" y="22608000"/>
            <a:ext cx="1728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1500" b="0" i="0">
                <a:solidFill>
                  <a:srgbClr val="5049F9"/>
                </a:solidFill>
                <a:latin typeface="Consolas"/>
              </a:rPr>
              <a:t>7.14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33760" y="22392000"/>
            <a:ext cx="3456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1150" b="0" i="0">
                <a:solidFill>
                  <a:srgbClr val="5049F9"/>
                </a:solidFill>
                <a:latin typeface="Consolas"/>
              </a:rPr>
              <a:t>new representation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088000" y="23904000"/>
            <a:ext cx="9288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The gain from adding a representation lands </a:t>
            </a:r>
            <a:r>
              <a:rPr sz="1400" b="1" i="0">
                <a:solidFill>
                  <a:srgbClr val="5D6787"/>
                </a:solidFill>
                <a:latin typeface="Arial"/>
              </a:rPr>
              <a:t>inside</a:t>
            </a:r>
            <a:r>
              <a:rPr sz="1400" b="0" i="0">
                <a:solidFill>
                  <a:srgbClr val="5D6787"/>
                </a:solidFill>
                <a:latin typeface="Arial"/>
              </a:rPr>
              <a:t> the range a plain rerun already covers — not distinguishable here. B0 · classifieds, n=224, three replicated modes.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0800000" y="24732000"/>
            <a:ext cx="86400" cy="1368000"/>
          </a:xfrm>
          <a:prstGeom prst="rect">
            <a:avLst/>
          </a:prstGeom>
          <a:solidFill>
            <a:srgbClr val="148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1088000" y="24696000"/>
            <a:ext cx="9576000" cy="13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566"/>
              </a:spcAft>
            </a:pPr>
            <a:r>
              <a:rPr sz="1500" b="1" i="0">
                <a:solidFill>
                  <a:srgbClr val="12162E"/>
                </a:solidFill>
                <a:latin typeface="Arial"/>
              </a:rPr>
              <a:t>9.5–30.6% cheaper at identical success, in 8 of 8 pairs</a:t>
            </a:r>
            <a:r>
              <a:rPr sz="1500" b="0" i="0">
                <a:solidFill>
                  <a:srgbClr val="12162E"/>
                </a:solidFill>
                <a:latin typeface="Arial"/>
              </a:rPr>
              <a:t> — send the tasks </a:t>
            </a:r>
            <a:r>
              <a:rPr sz="1500" b="0" i="1">
                <a:solidFill>
                  <a:srgbClr val="12162E"/>
                </a:solidFill>
                <a:latin typeface="Arial"/>
              </a:rPr>
              <a:t>nobody</a:t>
            </a:r>
            <a:r>
              <a:rPr sz="1500" b="0" i="0">
                <a:solidFill>
                  <a:srgbClr val="12162E"/>
                </a:solidFill>
                <a:latin typeface="Arial"/>
              </a:rPr>
              <a:t> solves to the cheapest mode.</a:t>
            </a:r>
          </a:p>
          <a:p>
            <a:pPr algn="l">
              <a:lnSpc>
                <a:spcPct val="122000"/>
              </a:lnSpc>
              <a:spcAft>
                <a:spcPts val="566"/>
              </a:spcAft>
            </a:pPr>
            <a:r>
              <a:rPr sz="1500" b="0" i="0">
                <a:solidFill>
                  <a:srgbClr val="12162E"/>
                </a:solidFill>
                <a:latin typeface="Arial"/>
              </a:rPr>
              <a:t>Against the best-success fixed mode, and still a hindsight bound; in most pairs plain always-cheapest saves more. What makes it worth naming is the label: </a:t>
            </a:r>
            <a:r>
              <a:rPr sz="1500" b="0" i="1">
                <a:solidFill>
                  <a:srgbClr val="12162E"/>
                </a:solidFill>
                <a:latin typeface="Arial"/>
              </a:rPr>
              <a:t>solvable or not</a:t>
            </a:r>
            <a:r>
              <a:rPr sz="1500" b="0" i="0">
                <a:solidFill>
                  <a:srgbClr val="12162E"/>
                </a:solidFill>
                <a:latin typeface="Arial"/>
              </a:rPr>
              <a:t> is far easier to supply than </a:t>
            </a:r>
            <a:r>
              <a:rPr sz="1500" b="0" i="1">
                <a:solidFill>
                  <a:srgbClr val="12162E"/>
                </a:solidFill>
                <a:latin typeface="Arial"/>
              </a:rPr>
              <a:t>which mode</a:t>
            </a:r>
            <a:r>
              <a:rPr sz="1500" b="0" i="0">
                <a:solidFill>
                  <a:srgbClr val="12162E"/>
                </a:solidFill>
                <a:latin typeface="Arial"/>
              </a:rPr>
              <a:t>.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720000" y="26352000"/>
            <a:ext cx="19944000" cy="1800000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20000" y="26352000"/>
            <a:ext cx="122400" cy="18000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1224000" y="26568000"/>
            <a:ext cx="1188000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Routing is not only a model-selection problem. Its learnability depends on the competence of the agent producing the labels.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224000" y="27828000"/>
            <a:ext cx="1188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C9C6FF"/>
                </a:solidFill>
                <a:latin typeface="Arial"/>
              </a:rPr>
              <a:t>Measured inside the 2–36% success regime we observed. This conclusion need not hold for stronger agents.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3680000" y="26604000"/>
            <a:ext cx="64800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8A92B0"/>
                </a:solidFill>
                <a:latin typeface="Consolas"/>
              </a:rPr>
              <a:t>SO, IN THIS ORDER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3680000" y="26928000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800" b="0" i="0">
                <a:solidFill>
                  <a:srgbClr val="E8E7FF"/>
                </a:solidFill>
                <a:latin typeface="Consola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4112000" y="26928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Improve the agent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3680000" y="27324000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800" b="0" i="0">
                <a:solidFill>
                  <a:srgbClr val="E8E7FF"/>
                </a:solidFill>
                <a:latin typeface="Consola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4112000" y="27324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Generate reliable supervision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3680000" y="27720000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800" b="0" i="0">
                <a:solidFill>
                  <a:srgbClr val="E8E7FF"/>
                </a:solidFill>
                <a:latin typeface="Consolas"/>
              </a:rPr>
              <a:t>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4112000" y="27720000"/>
            <a:ext cx="612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Then learn selective perception</a:t>
            </a:r>
          </a:p>
        </p:txBody>
      </p:sp>
      <p:pic>
        <p:nvPicPr>
          <p:cNvPr id="183" name="Picture 182" descr="qr_re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90657" y="28781728"/>
            <a:ext cx="1127343" cy="11273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141</Words>
  <Application>Microsoft Macintosh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Consolas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Zekun Wu</cp:lastModifiedBy>
  <cp:revision>5</cp:revision>
  <dcterms:created xsi:type="dcterms:W3CDTF">2013-01-27T09:14:16Z</dcterms:created>
  <dcterms:modified xsi:type="dcterms:W3CDTF">2026-08-29T21:12:10Z</dcterms:modified>
  <cp:category/>
</cp:coreProperties>
</file>