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288000"/>
            <a:ext cx="15526985" cy="1656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Look, read, or both?</a:t>
            </a:r>
          </a:p>
          <a:p>
            <a:pPr>
              <a:lnSpc>
                <a:spcPct val="106000"/>
              </a:lnSpc>
            </a:pPr>
            <a:r>
              <a:rPr sz="4096" b="0" i="0">
                <a:solidFill>
                  <a:srgbClr val="FFFFFF"/>
                </a:solidFill>
                <a:latin typeface="Georgia"/>
              </a:rPr>
              <a:t>Today's web agents can't yet learn how to see a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36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49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0" i="0">
                <a:solidFill>
                  <a:srgbClr val="FFFFFF"/>
                </a:solidFill>
                <a:latin typeface="Georgia"/>
              </a:rPr>
              <a:t>Perfect hindsight would solve up to 16 more tasks in 100 than the best single view. None of 8 learned choices beat always using the cheapest view on both success and cost.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jiaming.wei.22@ucl.ac.uk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5040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996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THE AGENT LOOP, AND WHERE THE DECISION SITS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357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368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ight Arrow 76"/>
          <p:cNvSpPr/>
          <p:nvPr/>
        </p:nvSpPr>
        <p:spPr>
          <a:xfrm>
            <a:off x="3823200" y="7848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ight Arrow 77"/>
          <p:cNvSpPr/>
          <p:nvPr/>
        </p:nvSpPr>
        <p:spPr>
          <a:xfrm>
            <a:off x="8215200" y="7848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ight Arrow 78"/>
          <p:cNvSpPr/>
          <p:nvPr/>
        </p:nvSpPr>
        <p:spPr>
          <a:xfrm>
            <a:off x="14119200" y="7848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ight Arrow 79"/>
          <p:cNvSpPr/>
          <p:nvPr/>
        </p:nvSpPr>
        <p:spPr>
          <a:xfrm>
            <a:off x="17791200" y="7848000"/>
            <a:ext cx="360000" cy="504000"/>
          </a:xfrm>
          <a:prstGeom prst="rightArrow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27200" y="5580000"/>
            <a:ext cx="30240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7200" y="5580000"/>
            <a:ext cx="3024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7200" y="5724000"/>
            <a:ext cx="2664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THE TASK + THE LIVE PAGE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7200" y="5958000"/>
            <a:ext cx="26640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“Show me the cheapest bike with red handlebars between $900–950.”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7200" y="7016345"/>
            <a:ext cx="26640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Part of the intent is in the pictures, part in the text.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2800" y="7621314"/>
            <a:ext cx="2692800" cy="15189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7" name="Picture 86" descr="eye_l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00" y="7635714"/>
            <a:ext cx="2664000" cy="1490175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255200" y="5580000"/>
            <a:ext cx="38880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5049F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435200" y="57240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WHO DECIDES HOW TO SEE IT?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35200" y="5958000"/>
            <a:ext cx="3528000" cy="12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9200" y="6084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One fixed view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9200" y="6426000"/>
            <a:ext cx="32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same view for every task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435200" y="7290000"/>
            <a:ext cx="3528000" cy="12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9200" y="7416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Perfect hindsight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9200" y="7758000"/>
            <a:ext cx="32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knowing afterwards which view solved it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435200" y="8622000"/>
            <a:ext cx="3528000" cy="122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9200" y="8748000"/>
            <a:ext cx="32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1E41"/>
                </a:solidFill>
                <a:latin typeface="Arial"/>
              </a:rPr>
              <a:t>A learned choice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9200" y="9090000"/>
            <a:ext cx="32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made before the task runs, from what the page looks like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35200" y="102600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this box is what we measure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647200" y="5580000"/>
            <a:ext cx="5400000" cy="158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47200" y="5580000"/>
            <a:ext cx="5400000" cy="5040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27200" y="5742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27200" y="6084000"/>
            <a:ext cx="252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screenshot only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27200" y="6624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3,123 tokens on this page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76800" y="5709600"/>
            <a:ext cx="2404800" cy="13578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eye_l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91200" y="5724000"/>
            <a:ext cx="2376000" cy="1329075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8647200" y="7308000"/>
            <a:ext cx="5400000" cy="158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647200" y="7308000"/>
            <a:ext cx="5400000" cy="504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27200" y="7470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27200" y="7812000"/>
            <a:ext cx="252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page as text: its elements and labels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27200" y="8352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3,314 tokens · +3 text-only variants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1491200" y="7452000"/>
            <a:ext cx="2376000" cy="1328400"/>
          </a:xfrm>
          <a:prstGeom prst="rect">
            <a:avLst/>
          </a:prstGeom>
          <a:solidFill>
            <a:srgbClr val="FFFFFF"/>
          </a:solidFill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563200" y="7524000"/>
            <a:ext cx="2232000" cy="11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[2] RootWebArea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[89] link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[90] image 'Classifieds'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[115] link 'My account'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[5] link 'Logout'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i="0">
                <a:solidFill>
                  <a:srgbClr val="12162E"/>
                </a:solidFill>
                <a:latin typeface="Consolas"/>
              </a:rPr>
              <a:t>[118] link 'Publish Ad'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647200" y="9036000"/>
            <a:ext cx="5400000" cy="1584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647200" y="9036000"/>
            <a:ext cx="5400000" cy="504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827200" y="9198000"/>
            <a:ext cx="144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64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827200" y="9540000"/>
            <a:ext cx="252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1" i="0">
                <a:solidFill>
                  <a:srgbClr val="141E41"/>
                </a:solidFill>
                <a:latin typeface="Arial"/>
              </a:rPr>
              <a:t>the screenshot with numbered boxes, plus the text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827200" y="10080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4,335 tokens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1476800" y="9165600"/>
            <a:ext cx="2404800" cy="13578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0" name="Picture 119" descr="eye_bo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1200" y="9180000"/>
            <a:ext cx="2376000" cy="1329075"/>
          </a:xfrm>
          <a:prstGeom prst="rect">
            <a:avLst/>
          </a:prstGeom>
        </p:spPr>
      </p:pic>
      <p:sp>
        <p:nvSpPr>
          <p:cNvPr id="121" name="Rectangle 120"/>
          <p:cNvSpPr/>
          <p:nvPr/>
        </p:nvSpPr>
        <p:spPr>
          <a:xfrm>
            <a:off x="14551200" y="5580000"/>
            <a:ext cx="31680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551200" y="5580000"/>
            <a:ext cx="31680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731200" y="5724000"/>
            <a:ext cx="280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THE AGENT, ONE STEP AT A TIME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731200" y="5958000"/>
            <a:ext cx="2808000" cy="3227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think → act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731200" y="6352781"/>
            <a:ext cx="2808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click · type · scroll · go back · finish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731200" y="6752465"/>
            <a:ext cx="28080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Only the page view changes; model, prompt, step budget and cost accounting stay fixed.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8223200" y="5580000"/>
            <a:ext cx="2566800" cy="5040000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8223200" y="5580000"/>
            <a:ext cx="25668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8403200" y="5724000"/>
            <a:ext cx="22068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WHEN IT STOPS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8403200" y="5958000"/>
            <a:ext cx="2206800" cy="771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✓ solved / ✗ not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$ for the attempt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403200" y="6801563"/>
            <a:ext cx="2206800" cy="1022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8 website × model combinations · two public benchmarks · 6 views · 8,934 attempts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6113600" y="10620000"/>
            <a:ext cx="43200" cy="432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239200" y="11030400"/>
            <a:ext cx="13896000" cy="432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217600" y="10764000"/>
            <a:ext cx="43200" cy="288000"/>
          </a:xfrm>
          <a:prstGeom prst="rect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Isosceles Triangle 134"/>
          <p:cNvSpPr/>
          <p:nvPr/>
        </p:nvSpPr>
        <p:spPr>
          <a:xfrm>
            <a:off x="2131200" y="10620000"/>
            <a:ext cx="216000" cy="162000"/>
          </a:xfrm>
          <a:prstGeom prst="triangle">
            <a:avLst/>
          </a:prstGeom>
          <a:solidFill>
            <a:srgbClr val="C9C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599200" y="11124000"/>
            <a:ext cx="13176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the action changes the page → next step · up to 30 steps per task · the bill grows with every step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7200" y="11412000"/>
            <a:ext cx="200628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1.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Everything is held fixed except how the page is shown. The dashed box is what this work measures — one fixed view, perfect hindsight, or a choice a model had to learn — each judged on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both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success and cost. The laptop beside this poster replays the loop on three tasks.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199168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194848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RESULTS ACROSS 8,934 TASK ATTEMPTS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230952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2319691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727200" y="12531684"/>
            <a:ext cx="20062800" cy="1170000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79200" y="12711684"/>
            <a:ext cx="65196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+16.35 in 100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9200" y="13269684"/>
            <a:ext cx="65196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PERFECT HINDSIGHT, SUCCESS ONLY, BEST OF 8 · VS ONE FIXED 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98800" y="12711684"/>
            <a:ext cx="65196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0 of 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98800" y="13269684"/>
            <a:ext cx="65196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SETTINGS WHERE A LEARNED CHOICE WON ON BOTH SUCCESS AND COST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018400" y="12711684"/>
            <a:ext cx="65196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47" b="1" i="0">
                <a:solidFill>
                  <a:srgbClr val="141E41"/>
                </a:solidFill>
                <a:latin typeface="Consolas"/>
              </a:rPr>
              <a:t>1 of 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018400" y="13269684"/>
            <a:ext cx="65196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9" b="0" i="0">
                <a:solidFill>
                  <a:srgbClr val="5D6787"/>
                </a:solidFill>
                <a:latin typeface="Consolas"/>
              </a:rPr>
              <a:t>SETTINGS WHERE PERFECT HINDSIGHT WON ON BOTH SUCCESS AND COST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27200" y="13845684"/>
            <a:ext cx="65436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ONE FIXED VIEW</a:t>
            </a:r>
            <a:r>
              <a:rPr sz="1271" b="0" i="0">
                <a:solidFill>
                  <a:srgbClr val="12162E"/>
                </a:solidFill>
                <a:latin typeface="Arial"/>
              </a:rPr>
              <a:t> — the single view that solves most tasks in a setting, used for every task.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86800" y="13845684"/>
            <a:ext cx="65436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ALWAYS-CHEAPEST</a:t>
            </a:r>
            <a:r>
              <a:rPr sz="1271" b="0" i="0">
                <a:solidFill>
                  <a:srgbClr val="12162E"/>
                </a:solidFill>
                <a:latin typeface="Arial"/>
              </a:rPr>
              <a:t> — the single view that costs least on average in a setting, used for every task.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“Won” above = beat this rule on both success and cost.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246400" y="13845684"/>
            <a:ext cx="6543600" cy="7670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12162E"/>
                </a:solidFill>
                <a:latin typeface="Arial"/>
              </a:rPr>
              <a:t>PERFECT HINDSIGHT</a:t>
            </a:r>
            <a:r>
              <a:rPr sz="1271" b="0" i="0">
                <a:solidFill>
                  <a:srgbClr val="12162E"/>
                </a:solidFill>
                <a:latin typeface="Arial"/>
              </a:rPr>
              <a:t> — for each task, the view that solved it, picked after the fact. An optimistic bound: rerunning one unchanged view flips 10–14% of outcomes and by itself gains 2.0–7.6 tasks in 100.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27200" y="14936737"/>
            <a:ext cx="6451200" cy="1634345"/>
          </a:xfrm>
          <a:prstGeom prst="rect">
            <a:avLst/>
          </a:prstGeom>
          <a:solidFill>
            <a:srgbClr val="EC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27200" y="14936737"/>
            <a:ext cx="86400" cy="1634345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43200" y="15116737"/>
            <a:ext cx="60192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0" i="0">
                <a:solidFill>
                  <a:srgbClr val="5049F9"/>
                </a:solidFill>
                <a:latin typeface="Consolas"/>
              </a:rPr>
              <a:t>THE CATCH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43200" y="15350737"/>
            <a:ext cx="60192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The agents that would gain most from choosing a view solve the fewest tasks — so they produce the fewest examples to learn the choice from.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6859082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6815882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WHY LEARNING THE CHOICE FAILS HERE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7176918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7187089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727200" y="17399082"/>
            <a:ext cx="6451200" cy="1613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A training example for “which view” exists only when the agent solves a task. Here the best single view solves just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2–36%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of tasks, leaving typically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15–97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usable examples per setting — enough to train a classifier in only 2 of the 6 VisualWebArena settings.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27200" y="19156990"/>
            <a:ext cx="6451200" cy="3742028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7200" y="19156990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5" name="Picture 154" descr="poster_label_suppl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200" y="19315390"/>
            <a:ext cx="6235200" cy="3475629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727200" y="22989018"/>
            <a:ext cx="6451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3.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Usable “which view” examples against the best single view's success rate, one point per VisualWebArena setting. Examples exist only where tasks get solved.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27200" y="23608387"/>
            <a:ext cx="6451200" cy="9683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Shrinking the training data on purpose points to scarcity as the main bottleneck, and prices it: the failing settings would need at least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2.1–4.2×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more tasks than the benchmarks contain.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4828732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4785532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TAKEAWAY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5146568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5156739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27200" y="25368732"/>
            <a:ext cx="6451200" cy="1613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Learning how to see is not only a modelling problem: whether it can be learned depends on how good the agent producing the examples already is.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So, in this order: improve the agent, then collect reliable examples, then learn when to look.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27200" y="27036640"/>
            <a:ext cx="6451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Measured in the 2–36% success regime we observed. This need not hold for stronger agents.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534800" y="14936737"/>
            <a:ext cx="13255200" cy="667848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534800" y="14936737"/>
            <a:ext cx="13255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2" name="Picture 161" descr="poster_dominance_pla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42800" y="15095137"/>
            <a:ext cx="13039200" cy="6412084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7534800" y="21705221"/>
            <a:ext cx="132552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1" i="0">
                <a:solidFill>
                  <a:srgbClr val="5D6787"/>
                </a:solidFill>
                <a:latin typeface="Arial"/>
              </a:rPr>
              <a:t>Fig 2.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Every way of choosing a view, in every setting, compared with one fixed rule: </a:t>
            </a:r>
            <a:r>
              <a:rPr sz="1271" b="1" i="0">
                <a:solidFill>
                  <a:srgbClr val="5D6787"/>
                </a:solidFill>
                <a:latin typeface="Arial"/>
              </a:rPr>
              <a:t>always use the cheapest view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(★). A win lands in the shaded region — cheaper </a:t>
            </a:r>
            <a:r>
              <a:rPr sz="1271" b="0" i="1">
                <a:solidFill>
                  <a:srgbClr val="5D6787"/>
                </a:solidFill>
                <a:latin typeface="Arial"/>
              </a:rPr>
              <a:t>and</a:t>
            </a:r>
            <a:r>
              <a:rPr sz="1271" b="0" i="0">
                <a:solidFill>
                  <a:srgbClr val="5D6787"/>
                </a:solidFill>
                <a:latin typeface="Arial"/>
              </a:rPr>
              <a:t> no worse. Always-cheapest is cheapest on average, not on every task, which is why a few points sit left of it. Learned choices are scored only on tasks they never saw.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534800" y="22324590"/>
            <a:ext cx="13255200" cy="21886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Perfect hindsight would pay.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Picking the winning view for each task after the fact would solve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3.45 to 16.35 more tasks in every 100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than the best single view, and spend 1.6–35.3% less — in all 8 settings.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Nothing we trained could do it.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In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0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settings did a learned choice beat always using the cheapest view on both success and cost — and even perfect hindsight manages that in only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1 of 8</a:t>
            </a:r>
            <a:r>
              <a:rPr sz="1764" b="0" i="0">
                <a:solidFill>
                  <a:srgbClr val="12162E"/>
                </a:solidFill>
                <a:latin typeface="Arial"/>
              </a:rPr>
              <a:t>.</a:t>
            </a:r>
          </a:p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1" i="0">
                <a:solidFill>
                  <a:srgbClr val="12162E"/>
                </a:solidFill>
                <a:latin typeface="Arial"/>
              </a:rPr>
              <a:t>What survives is a bound, not a method.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Sending the tasks nobody solves to the cheapest view saves 9.5–30.6% at the same success in 8 of 8 — but that too needs hindsight, and plain always-cheapest usually saves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469328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465008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12" b="1" i="0">
                <a:solidFill>
                  <a:srgbClr val="141E41"/>
                </a:solidFill>
                <a:latin typeface="Consolas"/>
              </a:rPr>
              <a:t>WATCH THE LAPTOP BESIDE THIS POSTER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501111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5021287"/>
            <a:ext cx="12085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7534800" y="25233280"/>
            <a:ext cx="13255200" cy="6455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92"/>
              </a:spcAft>
            </a:pPr>
            <a:r>
              <a:rPr sz="1764" b="0" i="0">
                <a:solidFill>
                  <a:srgbClr val="12162E"/>
                </a:solidFill>
                <a:latin typeface="Arial"/>
              </a:rPr>
              <a:t>Same task, three views, different behaviour and different bills — step by step. Three illustrative tasks, chosen so each view wins once; </a:t>
            </a:r>
            <a:r>
              <a:rPr sz="1764" b="1" i="0">
                <a:solidFill>
                  <a:srgbClr val="12162E"/>
                </a:solidFill>
                <a:latin typeface="Arial"/>
              </a:rPr>
              <a:t>not</a:t>
            </a:r>
            <a:r>
              <a:rPr sz="1764" b="0" i="0">
                <a:solidFill>
                  <a:srgbClr val="12162E"/>
                </a:solidFill>
                <a:latin typeface="Arial"/>
              </a:rPr>
              <a:t> how often each wins.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734800" y="25986843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6753200" y="25986843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8771600" y="25986843"/>
            <a:ext cx="20184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9" b="1" i="0">
                <a:solidFill>
                  <a:srgbClr val="14855F"/>
                </a:solidFill>
                <a:latin typeface="Consolas"/>
              </a:rPr>
              <a:t>BOTH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534800" y="26238843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534800" y="26328843"/>
            <a:ext cx="6984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“Navigate to the item on this page whose image is taken during a sunset.”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734800" y="26328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2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$0.007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6753200" y="26328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21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$0.096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771600" y="26328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3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$0.014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534800" y="26688843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534800" y="26724843"/>
            <a:ext cx="6984000" cy="5113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“Navigate to my listing of the blue bike and change the price to $85.50 (including in the description).”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4734800" y="26724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30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$0.116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6753200" y="26724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9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$0.079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771600" y="26724843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6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$0.029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7534800" y="27308212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534800" y="27344212"/>
            <a:ext cx="69840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71" b="0" i="0">
                <a:solidFill>
                  <a:srgbClr val="12162E"/>
                </a:solidFill>
                <a:latin typeface="Arial"/>
              </a:rPr>
              <a:t>“Show me the cheapest bike with red handlebars between $900-950.”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4734800" y="27344212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19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$0.075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6753200" y="27344212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2352B"/>
                </a:solidFill>
                <a:latin typeface="Consolas"/>
              </a:rPr>
              <a:t>✗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6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$0.025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8771600" y="27344212"/>
            <a:ext cx="20184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4855F"/>
                </a:solidFill>
                <a:latin typeface="Consolas"/>
              </a:rPr>
              <a:t>✓ </a:t>
            </a:r>
            <a:r>
              <a:rPr sz="1271" b="0" i="0">
                <a:solidFill>
                  <a:srgbClr val="12162E"/>
                </a:solidFill>
                <a:latin typeface="Arial"/>
              </a:rPr>
              <a:t>7 steps · </a:t>
            </a:r>
            <a:r>
              <a:rPr sz="1271" b="1" i="0">
                <a:solidFill>
                  <a:srgbClr val="12162E"/>
                </a:solidFill>
                <a:latin typeface="Arial"/>
              </a:rPr>
              <a:t>$0.037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7534800" y="27704212"/>
            <a:ext cx="13255200" cy="108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7534800" y="27776212"/>
            <a:ext cx="13255200" cy="2556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425"/>
              </a:spcAft>
            </a:pPr>
            <a:r>
              <a:rPr sz="1271" b="0" i="0">
                <a:solidFill>
                  <a:srgbClr val="5D6787"/>
                </a:solidFill>
                <a:latin typeface="Arial"/>
              </a:rPr>
              <a:t>One recorded attempt per view, B0 · classifieds. Every ✓ / ✗ came out the same on an independent rerun; steps and bill differ run to run.</a:t>
            </a:r>
          </a:p>
        </p:txBody>
      </p:sp>
      <p:pic>
        <p:nvPicPr>
          <p:cNvPr id="186" name="Picture 185" descr="qr_rep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