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50"/>
  </p:normalViewPr>
  <p:slideViewPr>
    <p:cSldViewPr snapToGrid="0" snapToObjects="1">
      <p:cViewPr>
        <p:scale>
          <a:sx n="55" d="100"/>
          <a:sy n="55" d="100"/>
        </p:scale>
        <p:origin x="1320" y="-4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1180624"/>
            <a:ext cx="21384000" cy="290945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_ma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21384000" cy="4634784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21384000" cy="152561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hai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7779" y="595805"/>
            <a:ext cx="1827193" cy="1169636"/>
          </a:xfrm>
          <a:prstGeom prst="rect">
            <a:avLst/>
          </a:prstGeom>
        </p:spPr>
      </p:pic>
      <p:pic>
        <p:nvPicPr>
          <p:cNvPr id="6" name="Picture 5" descr="cdi-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64374" y="443244"/>
            <a:ext cx="1925207" cy="147475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135215" y="288000"/>
            <a:ext cx="15526985" cy="1656000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algn="ctr">
              <a:lnSpc>
                <a:spcPct val="106000"/>
              </a:lnSpc>
            </a:pPr>
            <a:r>
              <a:rPr sz="4096" b="0" i="0">
                <a:solidFill>
                  <a:srgbClr val="FFFFFF"/>
                </a:solidFill>
                <a:latin typeface="Georgia"/>
              </a:rPr>
              <a:t>Look, read, or both?</a:t>
            </a:r>
          </a:p>
          <a:p>
            <a:pPr>
              <a:lnSpc>
                <a:spcPct val="106000"/>
              </a:lnSpc>
            </a:pPr>
            <a:r>
              <a:rPr sz="4096" b="0" i="0">
                <a:solidFill>
                  <a:srgbClr val="FFFFFF"/>
                </a:solidFill>
                <a:latin typeface="Georgia"/>
              </a:rPr>
              <a:t>Today's web agents can't yet learn how to see a page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7779" y="2129501"/>
            <a:ext cx="20061802" cy="45768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36" b="0" i="0">
                <a:solidFill>
                  <a:srgbClr val="FFFFFF"/>
                </a:solidFill>
                <a:latin typeface="Arial"/>
              </a:rPr>
              <a:t>Jiaming Wei          Supervisors: Prof. María Pérez-Ortiz  ·  Zekun Wu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911" y="2569652"/>
            <a:ext cx="20061802" cy="40682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49" b="0" i="0">
                <a:solidFill>
                  <a:srgbClr val="C9C6FF"/>
                </a:solidFill>
                <a:latin typeface="Arial"/>
              </a:rPr>
              <a:t>UCL Centre for Artificial Intelligence          Holistic AI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7779" y="3308278"/>
            <a:ext cx="20061802" cy="1078916"/>
          </a:xfrm>
          <a:prstGeom prst="rect">
            <a:avLst/>
          </a:prstGeom>
          <a:gradFill rotWithShape="1">
            <a:gsLst>
              <a:gs pos="0">
                <a:srgbClr val="141E41"/>
              </a:gs>
              <a:gs pos="100000">
                <a:srgbClr val="3F3AC4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27779" y="3308277"/>
            <a:ext cx="238442" cy="1078917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ang="540000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490585" y="3363957"/>
            <a:ext cx="18536190" cy="92769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2800" b="0" i="0">
                <a:solidFill>
                  <a:srgbClr val="FFFFFF"/>
                </a:solidFill>
                <a:latin typeface="Georgia"/>
              </a:rPr>
              <a:t>Perfect hindsight would solve up to 16 more tasks in 100 than the best single view. None of 8 learned choices beat always using the cheapest view on both success and cost.</a:t>
            </a:r>
          </a:p>
        </p:txBody>
      </p:sp>
      <p:sp>
        <p:nvSpPr>
          <p:cNvPr id="70" name="Rectangle 69"/>
          <p:cNvSpPr/>
          <p:nvPr/>
        </p:nvSpPr>
        <p:spPr>
          <a:xfrm>
            <a:off x="-375" y="28403797"/>
            <a:ext cx="21384000" cy="1881588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-375" y="28403797"/>
            <a:ext cx="21384000" cy="101707"/>
          </a:xfrm>
          <a:prstGeom prst="rect">
            <a:avLst/>
          </a:prstGeom>
          <a:gradFill rotWithShape="1">
            <a:gsLst>
              <a:gs pos="0">
                <a:srgbClr val="5049F9"/>
              </a:gs>
              <a:gs pos="54000">
                <a:srgbClr val="AB5FCE"/>
              </a:gs>
              <a:gs pos="100000">
                <a:srgbClr val="36B1FE"/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27200" y="29119390"/>
            <a:ext cx="12438317" cy="10170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83" b="0" i="0">
                <a:solidFill>
                  <a:srgbClr val="FFFFFF"/>
                </a:solidFill>
                <a:latin typeface="Arial"/>
              </a:rPr>
              <a:t>jiaming.wei.22@ucl.ac.uk</a:t>
            </a:r>
          </a:p>
          <a:p>
            <a:pPr>
              <a:lnSpc>
                <a:spcPct val="145000"/>
              </a:lnSpc>
            </a:pPr>
            <a:r>
              <a:rPr sz="1483" b="0" i="0">
                <a:solidFill>
                  <a:srgbClr val="FFFFFF"/>
                </a:solidFill>
                <a:latin typeface="Arial"/>
              </a:rPr>
              <a:t>Paper, code &amp; full results: github.com/Quarkgluonmixture/Cost-Aware-Routing-for-Web-Usage-Agents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4399552" y="29383118"/>
            <a:ext cx="4831105" cy="3559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988" b="0" spc="100">
                <a:solidFill>
                  <a:srgbClr val="8892B0"/>
                </a:solidFill>
                <a:latin typeface="Consolas"/>
              </a:rPr>
              <a:t>Holistic AI × UCL CDI · 16 September 2026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4399552" y="29140955"/>
            <a:ext cx="4831105" cy="4068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200" b="0" i="0">
                <a:solidFill>
                  <a:srgbClr val="5049F9"/>
                </a:solidFill>
                <a:latin typeface="Consolas"/>
              </a:rPr>
              <a:t>Explore all 8 settings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200" y="5040000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2323" y="4996800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12" b="1" i="0">
                <a:solidFill>
                  <a:srgbClr val="141E41"/>
                </a:solidFill>
                <a:latin typeface="Consolas"/>
              </a:rPr>
              <a:t>THE AGENT LOOP, AND WHERE THE DECISION SITS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7200" y="5357836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96836" y="5368007"/>
            <a:ext cx="188931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ight Arrow 76"/>
          <p:cNvSpPr/>
          <p:nvPr/>
        </p:nvSpPr>
        <p:spPr>
          <a:xfrm>
            <a:off x="3823200" y="7848000"/>
            <a:ext cx="360000" cy="504000"/>
          </a:xfrm>
          <a:prstGeom prst="rightArrow">
            <a:avLst/>
          </a:prstGeom>
          <a:solidFill>
            <a:srgbClr val="C9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ight Arrow 77"/>
          <p:cNvSpPr/>
          <p:nvPr/>
        </p:nvSpPr>
        <p:spPr>
          <a:xfrm>
            <a:off x="8215200" y="7848000"/>
            <a:ext cx="360000" cy="504000"/>
          </a:xfrm>
          <a:prstGeom prst="rightArrow">
            <a:avLst/>
          </a:prstGeom>
          <a:solidFill>
            <a:srgbClr val="C9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ight Arrow 78"/>
          <p:cNvSpPr/>
          <p:nvPr/>
        </p:nvSpPr>
        <p:spPr>
          <a:xfrm>
            <a:off x="14119200" y="7848000"/>
            <a:ext cx="360000" cy="504000"/>
          </a:xfrm>
          <a:prstGeom prst="rightArrow">
            <a:avLst/>
          </a:prstGeom>
          <a:solidFill>
            <a:srgbClr val="C9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ight Arrow 79"/>
          <p:cNvSpPr/>
          <p:nvPr/>
        </p:nvSpPr>
        <p:spPr>
          <a:xfrm>
            <a:off x="17791200" y="7848000"/>
            <a:ext cx="360000" cy="504000"/>
          </a:xfrm>
          <a:prstGeom prst="rightArrow">
            <a:avLst/>
          </a:prstGeom>
          <a:solidFill>
            <a:srgbClr val="C9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27200" y="5580000"/>
            <a:ext cx="3024000" cy="5040000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27200" y="5580000"/>
            <a:ext cx="3024000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07200" y="5724000"/>
            <a:ext cx="2664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9" b="0" i="0">
                <a:solidFill>
                  <a:srgbClr val="5D6787"/>
                </a:solidFill>
                <a:latin typeface="Consolas"/>
              </a:rPr>
              <a:t>THE TASK + THE LIVE PAGE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907200" y="5958000"/>
            <a:ext cx="2664000" cy="968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0" i="0">
                <a:solidFill>
                  <a:srgbClr val="12162E"/>
                </a:solidFill>
                <a:latin typeface="Arial"/>
              </a:rPr>
              <a:t>“Show me the cheapest bike with red handlebars between $900–950.”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07200" y="7016345"/>
            <a:ext cx="2664000" cy="511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Part of the intent is in the pictures, part in the text.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92800" y="7621314"/>
            <a:ext cx="2692800" cy="1518975"/>
          </a:xfrm>
          <a:prstGeom prst="rect">
            <a:avLst/>
          </a:prstGeom>
          <a:noFill/>
          <a:ln w="8890">
            <a:solidFill>
              <a:srgbClr val="C9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87" name="Picture 86" descr="eye_l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200" y="7635714"/>
            <a:ext cx="2664000" cy="1490175"/>
          </a:xfrm>
          <a:prstGeom prst="rect">
            <a:avLst/>
          </a:prstGeom>
        </p:spPr>
      </p:pic>
      <p:sp>
        <p:nvSpPr>
          <p:cNvPr id="88" name="Rectangle 87"/>
          <p:cNvSpPr/>
          <p:nvPr/>
        </p:nvSpPr>
        <p:spPr>
          <a:xfrm>
            <a:off x="4255200" y="5580000"/>
            <a:ext cx="3888000" cy="5040000"/>
          </a:xfrm>
          <a:prstGeom prst="rect">
            <a:avLst/>
          </a:prstGeom>
          <a:solidFill>
            <a:srgbClr val="F7F9FD"/>
          </a:solidFill>
          <a:ln w="8890">
            <a:solidFill>
              <a:srgbClr val="5049F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4435200" y="57240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9" b="0" i="0">
                <a:solidFill>
                  <a:srgbClr val="5049F9"/>
                </a:solidFill>
                <a:latin typeface="Consolas"/>
              </a:rPr>
              <a:t>WHO DECIDES HOW TO SEE IT?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4435200" y="5958000"/>
            <a:ext cx="3528000" cy="122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579200" y="6084000"/>
            <a:ext cx="32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64" b="1" i="0">
                <a:solidFill>
                  <a:srgbClr val="141E41"/>
                </a:solidFill>
                <a:latin typeface="Arial"/>
              </a:rPr>
              <a:t>One fixed view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579200" y="6426000"/>
            <a:ext cx="32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the same view for every task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435200" y="7290000"/>
            <a:ext cx="3528000" cy="122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579200" y="7416000"/>
            <a:ext cx="32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64" b="1" i="0">
                <a:solidFill>
                  <a:srgbClr val="141E41"/>
                </a:solidFill>
                <a:latin typeface="Arial"/>
              </a:rPr>
              <a:t>Perfect hindsight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579200" y="7758000"/>
            <a:ext cx="32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knowing afterwards which view solved it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4435200" y="8622000"/>
            <a:ext cx="3528000" cy="1224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579200" y="8748000"/>
            <a:ext cx="32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64" b="1" i="0">
                <a:solidFill>
                  <a:srgbClr val="141E41"/>
                </a:solidFill>
                <a:latin typeface="Arial"/>
              </a:rPr>
              <a:t>A learned choice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579200" y="9090000"/>
            <a:ext cx="3240000" cy="57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made before the task runs, from what the page looks like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435200" y="10260000"/>
            <a:ext cx="352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9" b="0" i="0">
                <a:solidFill>
                  <a:srgbClr val="5049F9"/>
                </a:solidFill>
                <a:latin typeface="Consolas"/>
              </a:rPr>
              <a:t>this box is what we measure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647200" y="5580000"/>
            <a:ext cx="5400000" cy="1584000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647200" y="5580000"/>
            <a:ext cx="5400000" cy="50400"/>
          </a:xfrm>
          <a:prstGeom prst="rect">
            <a:avLst/>
          </a:prstGeom>
          <a:solidFill>
            <a:srgbClr val="1F5F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8827200" y="5742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64" b="1" i="0">
                <a:solidFill>
                  <a:srgbClr val="1F5FD6"/>
                </a:solidFill>
                <a:latin typeface="Consolas"/>
              </a:rPr>
              <a:t>LOOK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8827200" y="6084000"/>
            <a:ext cx="2520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1" i="0">
                <a:solidFill>
                  <a:srgbClr val="141E41"/>
                </a:solidFill>
                <a:latin typeface="Arial"/>
              </a:rPr>
              <a:t>the screenshot only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827200" y="6624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3,123 tokens on this page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1476800" y="5709600"/>
            <a:ext cx="2404800" cy="1357875"/>
          </a:xfrm>
          <a:prstGeom prst="rect">
            <a:avLst/>
          </a:prstGeom>
          <a:noFill/>
          <a:ln w="8890">
            <a:solidFill>
              <a:srgbClr val="C9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6" name="Picture 105" descr="eye_l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1200" y="5724000"/>
            <a:ext cx="2376000" cy="1329075"/>
          </a:xfrm>
          <a:prstGeom prst="rect">
            <a:avLst/>
          </a:prstGeom>
        </p:spPr>
      </p:pic>
      <p:sp>
        <p:nvSpPr>
          <p:cNvPr id="107" name="Rectangle 106"/>
          <p:cNvSpPr/>
          <p:nvPr/>
        </p:nvSpPr>
        <p:spPr>
          <a:xfrm>
            <a:off x="8647200" y="7308000"/>
            <a:ext cx="5400000" cy="1584000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8647200" y="7308000"/>
            <a:ext cx="5400000" cy="50400"/>
          </a:xfrm>
          <a:prstGeom prst="rect">
            <a:avLst/>
          </a:prstGeom>
          <a:solidFill>
            <a:srgbClr val="E872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827200" y="7470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64" b="1" i="0">
                <a:solidFill>
                  <a:srgbClr val="E8720C"/>
                </a:solidFill>
                <a:latin typeface="Consolas"/>
              </a:rPr>
              <a:t>READ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827200" y="7812000"/>
            <a:ext cx="2520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1" i="0">
                <a:solidFill>
                  <a:srgbClr val="141E41"/>
                </a:solidFill>
                <a:latin typeface="Arial"/>
              </a:rPr>
              <a:t>the page as text: its elements and labels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827200" y="8352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3,314 tokens · +3 text-only variants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1491200" y="7452000"/>
            <a:ext cx="2376000" cy="1328400"/>
          </a:xfrm>
          <a:prstGeom prst="rect">
            <a:avLst/>
          </a:prstGeom>
          <a:solidFill>
            <a:srgbClr val="FFFFFF"/>
          </a:solidFill>
          <a:ln w="8890">
            <a:solidFill>
              <a:srgbClr val="C9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1563200" y="7524000"/>
            <a:ext cx="2232000" cy="11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12162E"/>
                </a:solidFill>
                <a:latin typeface="Consolas"/>
              </a:rPr>
              <a:t>[2] RootWebArea 'Classifieds'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12162E"/>
                </a:solidFill>
                <a:latin typeface="Consolas"/>
              </a:rPr>
              <a:t>[89] link 'Classifieds'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12162E"/>
                </a:solidFill>
                <a:latin typeface="Consolas"/>
              </a:rPr>
              <a:t>[90] image 'Classifieds'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12162E"/>
                </a:solidFill>
                <a:latin typeface="Consolas"/>
              </a:rPr>
              <a:t>[115] link 'My account'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12162E"/>
                </a:solidFill>
                <a:latin typeface="Consolas"/>
              </a:rPr>
              <a:t>[5] link 'Logout'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750" b="0" i="0">
                <a:solidFill>
                  <a:srgbClr val="12162E"/>
                </a:solidFill>
                <a:latin typeface="Consolas"/>
              </a:rPr>
              <a:t>[118] link 'Publish Ad'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8647200" y="9036000"/>
            <a:ext cx="5400000" cy="1584000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8647200" y="9036000"/>
            <a:ext cx="5400000" cy="50400"/>
          </a:xfrm>
          <a:prstGeom prst="rect">
            <a:avLst/>
          </a:prstGeom>
          <a:solidFill>
            <a:srgbClr val="1485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8827200" y="9198000"/>
            <a:ext cx="14400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64" b="1" i="0">
                <a:solidFill>
                  <a:srgbClr val="14855F"/>
                </a:solidFill>
                <a:latin typeface="Consolas"/>
              </a:rPr>
              <a:t>BOTH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827200" y="9540000"/>
            <a:ext cx="2520000" cy="50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1" i="0">
                <a:solidFill>
                  <a:srgbClr val="141E41"/>
                </a:solidFill>
                <a:latin typeface="Arial"/>
              </a:rPr>
              <a:t>the screenshot with numbered boxes, plus the text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827200" y="10080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4,335 tokens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11476800" y="9165600"/>
            <a:ext cx="2404800" cy="1357875"/>
          </a:xfrm>
          <a:prstGeom prst="rect">
            <a:avLst/>
          </a:prstGeom>
          <a:noFill/>
          <a:ln w="8890">
            <a:solidFill>
              <a:srgbClr val="C9C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20" name="Picture 119" descr="eye_bot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91200" y="9180000"/>
            <a:ext cx="2376000" cy="1329075"/>
          </a:xfrm>
          <a:prstGeom prst="rect">
            <a:avLst/>
          </a:prstGeom>
        </p:spPr>
      </p:pic>
      <p:sp>
        <p:nvSpPr>
          <p:cNvPr id="121" name="Rectangle 120"/>
          <p:cNvSpPr/>
          <p:nvPr/>
        </p:nvSpPr>
        <p:spPr>
          <a:xfrm>
            <a:off x="14551200" y="5580000"/>
            <a:ext cx="3168000" cy="5040000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14551200" y="5580000"/>
            <a:ext cx="3168000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4731200" y="5724000"/>
            <a:ext cx="28080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9" b="0" i="0">
                <a:solidFill>
                  <a:srgbClr val="5D6787"/>
                </a:solidFill>
                <a:latin typeface="Consolas"/>
              </a:rPr>
              <a:t>THE AGENT, ONE STEP AT A TIME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731200" y="5958000"/>
            <a:ext cx="2808000" cy="32278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1" i="0">
                <a:solidFill>
                  <a:srgbClr val="12162E"/>
                </a:solidFill>
                <a:latin typeface="Arial"/>
              </a:rPr>
              <a:t>think → act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731200" y="6352781"/>
            <a:ext cx="2808000" cy="255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click · type · scroll · go back · finish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4731200" y="6752465"/>
            <a:ext cx="2808000" cy="7670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0" i="0">
                <a:solidFill>
                  <a:srgbClr val="12162E"/>
                </a:solidFill>
                <a:latin typeface="Arial"/>
              </a:rPr>
              <a:t>Only the page view changes; model, prompt, step budget and cost accounting stay fixed.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8223200" y="5580000"/>
            <a:ext cx="2566800" cy="5040000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18223200" y="5580000"/>
            <a:ext cx="2566800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8403200" y="5724000"/>
            <a:ext cx="22068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9" b="0" i="0">
                <a:solidFill>
                  <a:srgbClr val="5D6787"/>
                </a:solidFill>
                <a:latin typeface="Consolas"/>
              </a:rPr>
              <a:t>WHEN IT STOPS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403200" y="5958000"/>
            <a:ext cx="2206800" cy="7715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1" i="0">
                <a:solidFill>
                  <a:srgbClr val="12162E"/>
                </a:solidFill>
                <a:latin typeface="Arial"/>
              </a:rPr>
              <a:t>✓ solved / ✗ not</a:t>
            </a:r>
          </a:p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1" i="0">
                <a:solidFill>
                  <a:srgbClr val="12162E"/>
                </a:solidFill>
                <a:latin typeface="Arial"/>
              </a:rPr>
              <a:t>$ for the attempt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8403200" y="6801563"/>
            <a:ext cx="2206800" cy="10227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8 website × model combinations · two public benchmarks · 6 views · 8,934 attempts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6113600" y="10620000"/>
            <a:ext cx="43200" cy="432000"/>
          </a:xfrm>
          <a:prstGeom prst="rect">
            <a:avLst/>
          </a:prstGeom>
          <a:solidFill>
            <a:srgbClr val="C9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2239200" y="11030400"/>
            <a:ext cx="13896000" cy="43200"/>
          </a:xfrm>
          <a:prstGeom prst="rect">
            <a:avLst/>
          </a:prstGeom>
          <a:solidFill>
            <a:srgbClr val="C9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2217600" y="10764000"/>
            <a:ext cx="43200" cy="288000"/>
          </a:xfrm>
          <a:prstGeom prst="rect">
            <a:avLst/>
          </a:prstGeom>
          <a:solidFill>
            <a:srgbClr val="C9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5" name="Isosceles Triangle 134"/>
          <p:cNvSpPr/>
          <p:nvPr/>
        </p:nvSpPr>
        <p:spPr>
          <a:xfrm>
            <a:off x="2131200" y="10620000"/>
            <a:ext cx="216000" cy="162000"/>
          </a:xfrm>
          <a:prstGeom prst="triangle">
            <a:avLst/>
          </a:prstGeom>
          <a:solidFill>
            <a:srgbClr val="C9CF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2599200" y="11124000"/>
            <a:ext cx="13176000" cy="25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the action changes the page → next step · up to 30 steps per task · the bill grows with every step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27200" y="11412000"/>
            <a:ext cx="20062800" cy="255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1" i="0">
                <a:solidFill>
                  <a:srgbClr val="5D6787"/>
                </a:solidFill>
                <a:latin typeface="Arial"/>
              </a:rPr>
              <a:t>Fig 1.</a:t>
            </a:r>
            <a:r>
              <a:rPr sz="1271" b="0" i="0">
                <a:solidFill>
                  <a:srgbClr val="5D6787"/>
                </a:solidFill>
                <a:latin typeface="Arial"/>
              </a:rPr>
              <a:t> Everything is held fixed except how the page is shown. The dashed box is what this work measures — one fixed view, perfect hindsight, or a choice a model had to learn — each judged on </a:t>
            </a:r>
            <a:r>
              <a:rPr sz="1271" b="1" i="0">
                <a:solidFill>
                  <a:srgbClr val="5D6787"/>
                </a:solidFill>
                <a:latin typeface="Arial"/>
              </a:rPr>
              <a:t>both</a:t>
            </a:r>
            <a:r>
              <a:rPr sz="1271" b="0" i="0">
                <a:solidFill>
                  <a:srgbClr val="5D6787"/>
                </a:solidFill>
                <a:latin typeface="Arial"/>
              </a:rPr>
              <a:t> success and cost. The laptop beside this poster replays the loop on three tasks.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200" y="11991684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2323" y="11948484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12" b="1" i="0">
                <a:solidFill>
                  <a:srgbClr val="141E41"/>
                </a:solidFill>
                <a:latin typeface="Consolas"/>
              </a:rPr>
              <a:t>RESULTS ACROSS 8,934 TASK ATTEMPTS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7200" y="12309520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96836" y="12319691"/>
            <a:ext cx="188931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727200" y="12531684"/>
            <a:ext cx="20062800" cy="1170000"/>
          </a:xfrm>
          <a:prstGeom prst="rect">
            <a:avLst/>
          </a:prstGeom>
          <a:solidFill>
            <a:srgbClr val="EC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979200" y="12711684"/>
            <a:ext cx="6519600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47" b="1" i="0">
                <a:solidFill>
                  <a:srgbClr val="141E41"/>
                </a:solidFill>
                <a:latin typeface="Consolas"/>
              </a:rPr>
              <a:t>+16.35 in 100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979200" y="13269684"/>
            <a:ext cx="65196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9" b="0" i="0">
                <a:solidFill>
                  <a:srgbClr val="5D6787"/>
                </a:solidFill>
                <a:latin typeface="Consolas"/>
              </a:rPr>
              <a:t>PERFECT HINDSIGHT, BEST OF 8 · VS ONE FIXED VIEW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498800" y="12711684"/>
            <a:ext cx="6519600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47" b="1" i="0">
                <a:solidFill>
                  <a:srgbClr val="141E41"/>
                </a:solidFill>
                <a:latin typeface="Consolas"/>
              </a:rPr>
              <a:t>0 of 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98800" y="13269684"/>
            <a:ext cx="65196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9" b="0" i="0">
                <a:solidFill>
                  <a:srgbClr val="5D6787"/>
                </a:solidFill>
                <a:latin typeface="Consolas"/>
              </a:rPr>
              <a:t>LEARNED CHOICES THAT BEAT ALWAYS-CHEAPEST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4018400" y="12711684"/>
            <a:ext cx="6519600" cy="61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247" b="1" i="0">
                <a:solidFill>
                  <a:srgbClr val="141E41"/>
                </a:solidFill>
                <a:latin typeface="Consolas"/>
              </a:rPr>
              <a:t>1 of 8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4018400" y="13269684"/>
            <a:ext cx="6519600" cy="324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9" b="0" i="0">
                <a:solidFill>
                  <a:srgbClr val="5D6787"/>
                </a:solidFill>
                <a:latin typeface="Consolas"/>
              </a:rPr>
              <a:t>HINDSIGHT CHOICES THAT BEAT ALWAYS-CHEAPEST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27200" y="13845684"/>
            <a:ext cx="6543600" cy="511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1" i="0">
                <a:solidFill>
                  <a:srgbClr val="12162E"/>
                </a:solidFill>
                <a:latin typeface="Arial"/>
              </a:rPr>
              <a:t>ONE FIXED VIEW</a:t>
            </a:r>
            <a:r>
              <a:rPr sz="1271" b="0" i="0">
                <a:solidFill>
                  <a:srgbClr val="12162E"/>
                </a:solidFill>
                <a:latin typeface="Arial"/>
              </a:rPr>
              <a:t> — the single view that solves most tasks in a setting, used for every task.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7486800" y="13845684"/>
            <a:ext cx="6543600" cy="511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1" i="0">
                <a:solidFill>
                  <a:srgbClr val="12162E"/>
                </a:solidFill>
                <a:latin typeface="Arial"/>
              </a:rPr>
              <a:t>ALWAYS-CHEAPEST</a:t>
            </a:r>
            <a:r>
              <a:rPr sz="1271" b="0" i="0">
                <a:solidFill>
                  <a:srgbClr val="12162E"/>
                </a:solidFill>
                <a:latin typeface="Arial"/>
              </a:rPr>
              <a:t> — the single view that costs least on average in a setting, used for every task.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4246400" y="13845684"/>
            <a:ext cx="6543600" cy="76705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1" i="0">
                <a:solidFill>
                  <a:srgbClr val="12162E"/>
                </a:solidFill>
                <a:latin typeface="Arial"/>
              </a:rPr>
              <a:t>PERFECT HINDSIGHT</a:t>
            </a:r>
            <a:r>
              <a:rPr sz="1271" b="0" i="0">
                <a:solidFill>
                  <a:srgbClr val="12162E"/>
                </a:solidFill>
                <a:latin typeface="Arial"/>
              </a:rPr>
              <a:t> — for each task, the view that solved it, picked after the fact. An optimistic bound: rerunning one unchanged view flips 10–14% of outcomes and by itself gains 2.0–7.6 tasks in 100.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27200" y="14936737"/>
            <a:ext cx="6451200" cy="1634345"/>
          </a:xfrm>
          <a:prstGeom prst="rect">
            <a:avLst/>
          </a:prstGeom>
          <a:solidFill>
            <a:srgbClr val="ECEF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727200" y="14936737"/>
            <a:ext cx="86400" cy="1634345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943200" y="15116737"/>
            <a:ext cx="60192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9" b="0" i="0">
                <a:solidFill>
                  <a:srgbClr val="5049F9"/>
                </a:solidFill>
                <a:latin typeface="Consolas"/>
              </a:rPr>
              <a:t>THE CATCH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943200" y="15350737"/>
            <a:ext cx="6019200" cy="968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1" i="0">
                <a:solidFill>
                  <a:srgbClr val="12162E"/>
                </a:solidFill>
                <a:latin typeface="Arial"/>
              </a:rPr>
              <a:t>The agents that would gain most from choosing a view solve the fewest tasks — so they produce the fewest examples to learn the choice from.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200" y="16859082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2323" y="16815882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12" b="1" i="0">
                <a:solidFill>
                  <a:srgbClr val="141E41"/>
                </a:solidFill>
                <a:latin typeface="Consolas"/>
              </a:rPr>
              <a:t>WHY LEARNING THE CHOICE FAILS HERE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7200" y="17176918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96836" y="17187089"/>
            <a:ext cx="52815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TextBox 151"/>
          <p:cNvSpPr txBox="1"/>
          <p:nvPr/>
        </p:nvSpPr>
        <p:spPr>
          <a:xfrm>
            <a:off x="727200" y="17399082"/>
            <a:ext cx="6451200" cy="161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0" i="0">
                <a:solidFill>
                  <a:srgbClr val="12162E"/>
                </a:solidFill>
                <a:latin typeface="Arial"/>
              </a:rPr>
              <a:t>A training example for “which view” exists only when the agent solves a task. Here the best single view solves just </a:t>
            </a:r>
            <a:r>
              <a:rPr sz="1764" b="1" i="0">
                <a:solidFill>
                  <a:srgbClr val="12162E"/>
                </a:solidFill>
                <a:latin typeface="Arial"/>
              </a:rPr>
              <a:t>2–36%</a:t>
            </a:r>
            <a:r>
              <a:rPr sz="1764" b="0" i="0">
                <a:solidFill>
                  <a:srgbClr val="12162E"/>
                </a:solidFill>
                <a:latin typeface="Arial"/>
              </a:rPr>
              <a:t> of tasks, leaving typically </a:t>
            </a:r>
            <a:r>
              <a:rPr sz="1764" b="1" i="0">
                <a:solidFill>
                  <a:srgbClr val="12162E"/>
                </a:solidFill>
                <a:latin typeface="Arial"/>
              </a:rPr>
              <a:t>15–97</a:t>
            </a:r>
            <a:r>
              <a:rPr sz="1764" b="0" i="0">
                <a:solidFill>
                  <a:srgbClr val="12162E"/>
                </a:solidFill>
                <a:latin typeface="Arial"/>
              </a:rPr>
              <a:t> usable examples per setting — enough to train a classifier in only 2 of the 6 VisualWebArena settings.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727200" y="19156990"/>
            <a:ext cx="6451200" cy="3742028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727200" y="19156990"/>
            <a:ext cx="6451200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55" name="Picture 154" descr="poster_label_suppl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200" y="19315390"/>
            <a:ext cx="6235200" cy="3475629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727200" y="22989018"/>
            <a:ext cx="6451200" cy="511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1" i="0">
                <a:solidFill>
                  <a:srgbClr val="5D6787"/>
                </a:solidFill>
                <a:latin typeface="Arial"/>
              </a:rPr>
              <a:t>Fig 3.</a:t>
            </a:r>
            <a:r>
              <a:rPr sz="1271" b="0" i="0">
                <a:solidFill>
                  <a:srgbClr val="5D6787"/>
                </a:solidFill>
                <a:latin typeface="Arial"/>
              </a:rPr>
              <a:t> Usable “which view” examples against the best single view's success rate, one point per VisualWebArena setting. Examples exist only where tasks get solved.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27200" y="23608387"/>
            <a:ext cx="6451200" cy="96834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0" i="0">
                <a:solidFill>
                  <a:srgbClr val="12162E"/>
                </a:solidFill>
                <a:latin typeface="Arial"/>
              </a:rPr>
              <a:t>Shrinking the training data on purpose points to scarcity as the main bottleneck, and prices it: the failing settings would need at least </a:t>
            </a:r>
            <a:r>
              <a:rPr sz="1764" b="1" i="0">
                <a:solidFill>
                  <a:srgbClr val="12162E"/>
                </a:solidFill>
                <a:latin typeface="Arial"/>
              </a:rPr>
              <a:t>2.1–4.2×</a:t>
            </a:r>
            <a:r>
              <a:rPr sz="1764" b="0" i="0">
                <a:solidFill>
                  <a:srgbClr val="12162E"/>
                </a:solidFill>
                <a:latin typeface="Arial"/>
              </a:rPr>
              <a:t> more tasks than the benchmarks contain.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7200" y="24828732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2323" y="24785532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12" b="1" i="0">
                <a:solidFill>
                  <a:srgbClr val="141E41"/>
                </a:solidFill>
                <a:latin typeface="Consolas"/>
              </a:rPr>
              <a:t>TAKEAWAY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27200" y="25146568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896836" y="25156739"/>
            <a:ext cx="52815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TextBox 157"/>
          <p:cNvSpPr txBox="1"/>
          <p:nvPr/>
        </p:nvSpPr>
        <p:spPr>
          <a:xfrm>
            <a:off x="727200" y="25368732"/>
            <a:ext cx="6451200" cy="16139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1" i="0">
                <a:solidFill>
                  <a:srgbClr val="12162E"/>
                </a:solidFill>
                <a:latin typeface="Arial"/>
              </a:rPr>
              <a:t>Learning how to see is not only a modelling problem: whether it can be learned depends on how good the agent producing the examples already is.</a:t>
            </a:r>
            <a:r>
              <a:rPr sz="1764" b="0" i="0">
                <a:solidFill>
                  <a:srgbClr val="12162E"/>
                </a:solidFill>
                <a:latin typeface="Arial"/>
              </a:rPr>
              <a:t> So, in this order: improve the agent, then collect reliable examples, then learn when to look.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727200" y="27036640"/>
            <a:ext cx="6451200" cy="511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Measured in the 2–36% success regime we observed. This need not hold for stronger agents.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7534800" y="14936737"/>
            <a:ext cx="13255200" cy="6678484"/>
          </a:xfrm>
          <a:prstGeom prst="rect">
            <a:avLst/>
          </a:prstGeom>
          <a:solidFill>
            <a:srgbClr val="F7F9FD"/>
          </a:solidFill>
          <a:ln w="8890">
            <a:solidFill>
              <a:srgbClr val="DDE3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7534800" y="14936737"/>
            <a:ext cx="13255200" cy="50400"/>
          </a:xfrm>
          <a:prstGeom prst="rect">
            <a:avLst/>
          </a:prstGeom>
          <a:solidFill>
            <a:srgbClr val="5049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62" name="Picture 161" descr="poster_dominance_pla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642800" y="15095137"/>
            <a:ext cx="13039200" cy="6412084"/>
          </a:xfrm>
          <a:prstGeom prst="rect">
            <a:avLst/>
          </a:prstGeom>
        </p:spPr>
      </p:pic>
      <p:sp>
        <p:nvSpPr>
          <p:cNvPr id="163" name="TextBox 162"/>
          <p:cNvSpPr txBox="1"/>
          <p:nvPr/>
        </p:nvSpPr>
        <p:spPr>
          <a:xfrm>
            <a:off x="7534800" y="21705221"/>
            <a:ext cx="13255200" cy="511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1" i="0">
                <a:solidFill>
                  <a:srgbClr val="5D6787"/>
                </a:solidFill>
                <a:latin typeface="Arial"/>
              </a:rPr>
              <a:t>Fig 2.</a:t>
            </a:r>
            <a:r>
              <a:rPr sz="1271" b="0" i="0">
                <a:solidFill>
                  <a:srgbClr val="5D6787"/>
                </a:solidFill>
                <a:latin typeface="Arial"/>
              </a:rPr>
              <a:t> Every way of choosing a view, in every setting, compared with one fixed rule: </a:t>
            </a:r>
            <a:r>
              <a:rPr sz="1271" b="1" i="0">
                <a:solidFill>
                  <a:srgbClr val="5D6787"/>
                </a:solidFill>
                <a:latin typeface="Arial"/>
              </a:rPr>
              <a:t>always use the cheapest view</a:t>
            </a:r>
            <a:r>
              <a:rPr sz="1271" b="0" i="0">
                <a:solidFill>
                  <a:srgbClr val="5D6787"/>
                </a:solidFill>
                <a:latin typeface="Arial"/>
              </a:rPr>
              <a:t> (★). A win lands in the shaded region — cheaper </a:t>
            </a:r>
            <a:r>
              <a:rPr sz="1271" b="0" i="1">
                <a:solidFill>
                  <a:srgbClr val="5D6787"/>
                </a:solidFill>
                <a:latin typeface="Arial"/>
              </a:rPr>
              <a:t>and</a:t>
            </a:r>
            <a:r>
              <a:rPr sz="1271" b="0" i="0">
                <a:solidFill>
                  <a:srgbClr val="5D6787"/>
                </a:solidFill>
                <a:latin typeface="Arial"/>
              </a:rPr>
              <a:t> no worse. Always-cheapest is cheapest on average, not on every task, which is why a few points sit left of it. Learned choices are scored only on tasks they never saw.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534800" y="22324590"/>
            <a:ext cx="13255200" cy="21886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1" i="0">
                <a:solidFill>
                  <a:srgbClr val="12162E"/>
                </a:solidFill>
                <a:latin typeface="Arial"/>
              </a:rPr>
              <a:t>Perfect hindsight would pay.</a:t>
            </a:r>
            <a:r>
              <a:rPr sz="1764" b="0" i="0">
                <a:solidFill>
                  <a:srgbClr val="12162E"/>
                </a:solidFill>
                <a:latin typeface="Arial"/>
              </a:rPr>
              <a:t> Picking the winning view for each task after the fact would solve </a:t>
            </a:r>
            <a:r>
              <a:rPr sz="1764" b="1" i="0">
                <a:solidFill>
                  <a:srgbClr val="12162E"/>
                </a:solidFill>
                <a:latin typeface="Arial"/>
              </a:rPr>
              <a:t>3.45 to 16.35 more tasks in every 100</a:t>
            </a:r>
            <a:r>
              <a:rPr sz="1764" b="0" i="0">
                <a:solidFill>
                  <a:srgbClr val="12162E"/>
                </a:solidFill>
                <a:latin typeface="Arial"/>
              </a:rPr>
              <a:t> than the best single view, and spend 1.6–35.3% less — in all 8 settings.</a:t>
            </a:r>
          </a:p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1" i="0">
                <a:solidFill>
                  <a:srgbClr val="12162E"/>
                </a:solidFill>
                <a:latin typeface="Arial"/>
              </a:rPr>
              <a:t>Nothing we trained could do it.</a:t>
            </a:r>
            <a:r>
              <a:rPr sz="1764" b="0" i="0">
                <a:solidFill>
                  <a:srgbClr val="12162E"/>
                </a:solidFill>
                <a:latin typeface="Arial"/>
              </a:rPr>
              <a:t> In </a:t>
            </a:r>
            <a:r>
              <a:rPr sz="1764" b="1" i="0">
                <a:solidFill>
                  <a:srgbClr val="12162E"/>
                </a:solidFill>
                <a:latin typeface="Arial"/>
              </a:rPr>
              <a:t>0 of 8</a:t>
            </a:r>
            <a:r>
              <a:rPr sz="1764" b="0" i="0">
                <a:solidFill>
                  <a:srgbClr val="12162E"/>
                </a:solidFill>
                <a:latin typeface="Arial"/>
              </a:rPr>
              <a:t> settings did a learned choice beat always using the cheapest view on both success and cost — and even perfect hindsight manages that in only </a:t>
            </a:r>
            <a:r>
              <a:rPr sz="1764" b="1" i="0">
                <a:solidFill>
                  <a:srgbClr val="12162E"/>
                </a:solidFill>
                <a:latin typeface="Arial"/>
              </a:rPr>
              <a:t>1 of 8</a:t>
            </a:r>
            <a:r>
              <a:rPr sz="1764" b="0" i="0">
                <a:solidFill>
                  <a:srgbClr val="12162E"/>
                </a:solidFill>
                <a:latin typeface="Arial"/>
              </a:rPr>
              <a:t>.</a:t>
            </a:r>
          </a:p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1" i="0">
                <a:solidFill>
                  <a:srgbClr val="12162E"/>
                </a:solidFill>
                <a:latin typeface="Arial"/>
              </a:rPr>
              <a:t>What survives is a bound, not a method.</a:t>
            </a:r>
            <a:r>
              <a:rPr sz="1764" b="0" i="0">
                <a:solidFill>
                  <a:srgbClr val="12162E"/>
                </a:solidFill>
                <a:latin typeface="Arial"/>
              </a:rPr>
              <a:t> Sending the tasks nobody solves to the cheapest view saves 9.5–30.6% at the same success in 8 of 8 — but that too needs hindsight, and plain always-cheapest usually saves more.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534800" y="24693280"/>
            <a:ext cx="177988" cy="177988"/>
          </a:xfrm>
          <a:prstGeom prst="rect">
            <a:avLst/>
          </a:prstGeom>
          <a:solidFill>
            <a:srgbClr val="AB5F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39923" y="24650080"/>
            <a:ext cx="6144827" cy="2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12" b="1" i="0">
                <a:solidFill>
                  <a:srgbClr val="141E41"/>
                </a:solidFill>
                <a:latin typeface="Consolas"/>
              </a:rPr>
              <a:t>WATCH THE LAPTOP BESIDE THIS POSTER</a:t>
            </a:r>
            <a:endParaRPr sz="1412" b="1" spc="180" dirty="0">
              <a:solidFill>
                <a:srgbClr val="141E41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534800" y="25011116"/>
            <a:ext cx="1169636" cy="35597"/>
          </a:xfrm>
          <a:prstGeom prst="rect">
            <a:avLst/>
          </a:prstGeom>
          <a:solidFill>
            <a:srgbClr val="141E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704436" y="25021287"/>
            <a:ext cx="12085564" cy="15256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TextBox 164"/>
          <p:cNvSpPr txBox="1"/>
          <p:nvPr/>
        </p:nvSpPr>
        <p:spPr>
          <a:xfrm>
            <a:off x="7534800" y="25233280"/>
            <a:ext cx="13255200" cy="6455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92"/>
              </a:spcAft>
            </a:pPr>
            <a:r>
              <a:rPr sz="1764" b="0" i="0">
                <a:solidFill>
                  <a:srgbClr val="12162E"/>
                </a:solidFill>
                <a:latin typeface="Arial"/>
              </a:rPr>
              <a:t>Same task, three views, different behaviour and different bills — step by step. Three illustrative tasks, chosen so each view wins once; </a:t>
            </a:r>
            <a:r>
              <a:rPr sz="1764" b="1" i="0">
                <a:solidFill>
                  <a:srgbClr val="12162E"/>
                </a:solidFill>
                <a:latin typeface="Arial"/>
              </a:rPr>
              <a:t>not</a:t>
            </a:r>
            <a:r>
              <a:rPr sz="1764" b="0" i="0">
                <a:solidFill>
                  <a:srgbClr val="12162E"/>
                </a:solidFill>
                <a:latin typeface="Arial"/>
              </a:rPr>
              <a:t> how often each wins.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14734800" y="25986843"/>
            <a:ext cx="20184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9" b="1" i="0">
                <a:solidFill>
                  <a:srgbClr val="1F5FD6"/>
                </a:solidFill>
                <a:latin typeface="Consolas"/>
              </a:rPr>
              <a:t>LOOK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16753200" y="25986843"/>
            <a:ext cx="20184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9" b="1" i="0">
                <a:solidFill>
                  <a:srgbClr val="E8720C"/>
                </a:solidFill>
                <a:latin typeface="Consolas"/>
              </a:rPr>
              <a:t>READ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18771600" y="25986843"/>
            <a:ext cx="2018400" cy="21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9" b="1" i="0">
                <a:solidFill>
                  <a:srgbClr val="14855F"/>
                </a:solidFill>
                <a:latin typeface="Consolas"/>
              </a:rPr>
              <a:t>BOTH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7534800" y="26238843"/>
            <a:ext cx="13255200" cy="10800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7534800" y="26328843"/>
            <a:ext cx="6984000" cy="255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0" i="0">
                <a:solidFill>
                  <a:srgbClr val="12162E"/>
                </a:solidFill>
                <a:latin typeface="Arial"/>
              </a:rPr>
              <a:t>“Navigate to the item on this page whose image is taken during a sunset.”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14734800" y="26328843"/>
            <a:ext cx="20184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855F"/>
                </a:solidFill>
                <a:latin typeface="Consolas"/>
              </a:rPr>
              <a:t>✓ </a:t>
            </a:r>
            <a:r>
              <a:rPr sz="1271" b="0" i="0">
                <a:solidFill>
                  <a:srgbClr val="12162E"/>
                </a:solidFill>
                <a:latin typeface="Arial"/>
              </a:rPr>
              <a:t>2 steps · </a:t>
            </a:r>
            <a:r>
              <a:rPr sz="1271" b="1" i="0">
                <a:solidFill>
                  <a:srgbClr val="12162E"/>
                </a:solidFill>
                <a:latin typeface="Arial"/>
              </a:rPr>
              <a:t>$0.007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6753200" y="26328843"/>
            <a:ext cx="20184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2352B"/>
                </a:solidFill>
                <a:latin typeface="Consolas"/>
              </a:rPr>
              <a:t>✗ </a:t>
            </a:r>
            <a:r>
              <a:rPr sz="1271" b="0" i="0">
                <a:solidFill>
                  <a:srgbClr val="12162E"/>
                </a:solidFill>
                <a:latin typeface="Arial"/>
              </a:rPr>
              <a:t>21 steps · </a:t>
            </a:r>
            <a:r>
              <a:rPr sz="1271" b="1" i="0">
                <a:solidFill>
                  <a:srgbClr val="12162E"/>
                </a:solidFill>
                <a:latin typeface="Arial"/>
              </a:rPr>
              <a:t>$0.096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18771600" y="26328843"/>
            <a:ext cx="20184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855F"/>
                </a:solidFill>
                <a:latin typeface="Consolas"/>
              </a:rPr>
              <a:t>✓ </a:t>
            </a:r>
            <a:r>
              <a:rPr sz="1271" b="0" i="0">
                <a:solidFill>
                  <a:srgbClr val="12162E"/>
                </a:solidFill>
                <a:latin typeface="Arial"/>
              </a:rPr>
              <a:t>3 steps · </a:t>
            </a:r>
            <a:r>
              <a:rPr sz="1271" b="1" i="0">
                <a:solidFill>
                  <a:srgbClr val="12162E"/>
                </a:solidFill>
                <a:latin typeface="Arial"/>
              </a:rPr>
              <a:t>$0.014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7534800" y="26688843"/>
            <a:ext cx="13255200" cy="10800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534800" y="26724843"/>
            <a:ext cx="6984000" cy="51136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0" i="0">
                <a:solidFill>
                  <a:srgbClr val="12162E"/>
                </a:solidFill>
                <a:latin typeface="Arial"/>
              </a:rPr>
              <a:t>“Navigate to my listing of the blue bike and change the price to $85.50 (including in the description).”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14734800" y="26724843"/>
            <a:ext cx="20184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2352B"/>
                </a:solidFill>
                <a:latin typeface="Consolas"/>
              </a:rPr>
              <a:t>✗ </a:t>
            </a:r>
            <a:r>
              <a:rPr sz="1271" b="0" i="0">
                <a:solidFill>
                  <a:srgbClr val="12162E"/>
                </a:solidFill>
                <a:latin typeface="Arial"/>
              </a:rPr>
              <a:t>30 steps · </a:t>
            </a:r>
            <a:r>
              <a:rPr sz="1271" b="1" i="0">
                <a:solidFill>
                  <a:srgbClr val="12162E"/>
                </a:solidFill>
                <a:latin typeface="Arial"/>
              </a:rPr>
              <a:t>$0.116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16753200" y="26724843"/>
            <a:ext cx="20184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855F"/>
                </a:solidFill>
                <a:latin typeface="Consolas"/>
              </a:rPr>
              <a:t>✓ </a:t>
            </a:r>
            <a:r>
              <a:rPr sz="1271" b="0" i="0">
                <a:solidFill>
                  <a:srgbClr val="12162E"/>
                </a:solidFill>
                <a:latin typeface="Arial"/>
              </a:rPr>
              <a:t>9 steps · </a:t>
            </a:r>
            <a:r>
              <a:rPr sz="1271" b="1" i="0">
                <a:solidFill>
                  <a:srgbClr val="12162E"/>
                </a:solidFill>
                <a:latin typeface="Arial"/>
              </a:rPr>
              <a:t>$0.079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8771600" y="26724843"/>
            <a:ext cx="20184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2352B"/>
                </a:solidFill>
                <a:latin typeface="Consolas"/>
              </a:rPr>
              <a:t>✗ </a:t>
            </a:r>
            <a:r>
              <a:rPr sz="1271" b="0" i="0">
                <a:solidFill>
                  <a:srgbClr val="12162E"/>
                </a:solidFill>
                <a:latin typeface="Arial"/>
              </a:rPr>
              <a:t>6 steps · </a:t>
            </a:r>
            <a:r>
              <a:rPr sz="1271" b="1" i="0">
                <a:solidFill>
                  <a:srgbClr val="12162E"/>
                </a:solidFill>
                <a:latin typeface="Arial"/>
              </a:rPr>
              <a:t>$0.029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7534800" y="27308212"/>
            <a:ext cx="13255200" cy="10800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7534800" y="27344212"/>
            <a:ext cx="6984000" cy="255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271" b="0" i="0">
                <a:solidFill>
                  <a:srgbClr val="12162E"/>
                </a:solidFill>
                <a:latin typeface="Arial"/>
              </a:rPr>
              <a:t>“Show me the cheapest bike with red handlebars between $900-950.”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14734800" y="27344212"/>
            <a:ext cx="20184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2352B"/>
                </a:solidFill>
                <a:latin typeface="Consolas"/>
              </a:rPr>
              <a:t>✗ </a:t>
            </a:r>
            <a:r>
              <a:rPr sz="1271" b="0" i="0">
                <a:solidFill>
                  <a:srgbClr val="12162E"/>
                </a:solidFill>
                <a:latin typeface="Arial"/>
              </a:rPr>
              <a:t>19 steps · </a:t>
            </a:r>
            <a:r>
              <a:rPr sz="1271" b="1" i="0">
                <a:solidFill>
                  <a:srgbClr val="12162E"/>
                </a:solidFill>
                <a:latin typeface="Arial"/>
              </a:rPr>
              <a:t>$0.075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16753200" y="27344212"/>
            <a:ext cx="20184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C2352B"/>
                </a:solidFill>
                <a:latin typeface="Consolas"/>
              </a:rPr>
              <a:t>✗ </a:t>
            </a:r>
            <a:r>
              <a:rPr sz="1271" b="0" i="0">
                <a:solidFill>
                  <a:srgbClr val="12162E"/>
                </a:solidFill>
                <a:latin typeface="Arial"/>
              </a:rPr>
              <a:t>6 steps · </a:t>
            </a:r>
            <a:r>
              <a:rPr sz="1271" b="1" i="0">
                <a:solidFill>
                  <a:srgbClr val="12162E"/>
                </a:solidFill>
                <a:latin typeface="Arial"/>
              </a:rPr>
              <a:t>$0.025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18771600" y="27344212"/>
            <a:ext cx="201840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500" b="1" i="0">
                <a:solidFill>
                  <a:srgbClr val="14855F"/>
                </a:solidFill>
                <a:latin typeface="Consolas"/>
              </a:rPr>
              <a:t>✓ </a:t>
            </a:r>
            <a:r>
              <a:rPr sz="1271" b="0" i="0">
                <a:solidFill>
                  <a:srgbClr val="12162E"/>
                </a:solidFill>
                <a:latin typeface="Arial"/>
              </a:rPr>
              <a:t>7 steps · </a:t>
            </a:r>
            <a:r>
              <a:rPr sz="1271" b="1" i="0">
                <a:solidFill>
                  <a:srgbClr val="12162E"/>
                </a:solidFill>
                <a:latin typeface="Arial"/>
              </a:rPr>
              <a:t>$0.037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7534800" y="27704212"/>
            <a:ext cx="13255200" cy="10800"/>
          </a:xfrm>
          <a:prstGeom prst="rect">
            <a:avLst/>
          </a:prstGeom>
          <a:solidFill>
            <a:srgbClr val="DDE3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5" name="TextBox 184"/>
          <p:cNvSpPr txBox="1"/>
          <p:nvPr/>
        </p:nvSpPr>
        <p:spPr>
          <a:xfrm>
            <a:off x="7534800" y="27776212"/>
            <a:ext cx="13255200" cy="2556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425"/>
              </a:spcAft>
            </a:pPr>
            <a:r>
              <a:rPr sz="1271" b="0" i="0">
                <a:solidFill>
                  <a:srgbClr val="5D6787"/>
                </a:solidFill>
                <a:latin typeface="Arial"/>
              </a:rPr>
              <a:t>One recorded attempt per view, B0 · classifieds. Every ✓ / ✗ came out the same on an independent rerun; steps and bill differ run to run.</a:t>
            </a:r>
          </a:p>
        </p:txBody>
      </p:sp>
      <p:pic>
        <p:nvPicPr>
          <p:cNvPr id="186" name="Picture 185" descr="qr_repo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590657" y="28781728"/>
            <a:ext cx="1127343" cy="112734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141</Words>
  <Application>Microsoft Macintosh PowerPoint</Application>
  <PresentationFormat>Custom</PresentationFormat>
  <Paragraphs>22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Consolas</vt:lpstr>
      <vt:lpstr>Georgia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Zekun Wu</cp:lastModifiedBy>
  <cp:revision>5</cp:revision>
  <dcterms:created xsi:type="dcterms:W3CDTF">2013-01-27T09:14:16Z</dcterms:created>
  <dcterms:modified xsi:type="dcterms:W3CDTF">2026-08-29T21:12:10Z</dcterms:modified>
  <cp:category/>
</cp:coreProperties>
</file>